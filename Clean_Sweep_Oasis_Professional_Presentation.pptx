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64" r:id="rId5"/>
    <p:sldId id="259" r:id="rId6"/>
    <p:sldId id="260" r:id="rId7"/>
    <p:sldId id="261" r:id="rId8"/>
    <p:sldId id="262"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4A4B39-9EA3-4A01-B081-5D069C536FD3}" v="9" dt="2026-09-20T12:01:41.4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rahim Hewedy" userId="1fe39a3bad34914a" providerId="LiveId" clId="{DC20CFE1-9CD4-4ADF-9C99-C1432516858D}"/>
    <pc:docChg chg="undo custSel addSld modSld modNotesMaster">
      <pc:chgData name="Ibrahim Hewedy" userId="1fe39a3bad34914a" providerId="LiveId" clId="{DC20CFE1-9CD4-4ADF-9C99-C1432516858D}" dt="2026-09-20T15:35:27.113" v="183" actId="20577"/>
      <pc:docMkLst>
        <pc:docMk/>
      </pc:docMkLst>
      <pc:sldChg chg="addSp delSp modSp mod">
        <pc:chgData name="Ibrahim Hewedy" userId="1fe39a3bad34914a" providerId="LiveId" clId="{DC20CFE1-9CD4-4ADF-9C99-C1432516858D}" dt="2026-09-20T15:35:12.072" v="181" actId="20577"/>
        <pc:sldMkLst>
          <pc:docMk/>
          <pc:sldMk cId="0" sldId="256"/>
        </pc:sldMkLst>
        <pc:spChg chg="mod">
          <ac:chgData name="Ibrahim Hewedy" userId="1fe39a3bad34914a" providerId="LiveId" clId="{DC20CFE1-9CD4-4ADF-9C99-C1432516858D}" dt="2026-09-20T15:35:12.072" v="181" actId="20577"/>
          <ac:spMkLst>
            <pc:docMk/>
            <pc:sldMk cId="0" sldId="256"/>
            <ac:spMk id="6" creationId="{00000000-0000-0000-0000-000000000000}"/>
          </ac:spMkLst>
        </pc:spChg>
        <pc:picChg chg="del mod">
          <ac:chgData name="Ibrahim Hewedy" userId="1fe39a3bad34914a" providerId="LiveId" clId="{DC20CFE1-9CD4-4ADF-9C99-C1432516858D}" dt="2026-09-20T11:58:43.199" v="108" actId="478"/>
          <ac:picMkLst>
            <pc:docMk/>
            <pc:sldMk cId="0" sldId="256"/>
            <ac:picMk id="8" creationId="{5DC74F14-30D9-5114-7A46-93AC6A33F02D}"/>
          </ac:picMkLst>
        </pc:picChg>
        <pc:picChg chg="add mod ord">
          <ac:chgData name="Ibrahim Hewedy" userId="1fe39a3bad34914a" providerId="LiveId" clId="{DC20CFE1-9CD4-4ADF-9C99-C1432516858D}" dt="2026-09-20T12:01:39.391" v="132"/>
          <ac:picMkLst>
            <pc:docMk/>
            <pc:sldMk cId="0" sldId="256"/>
            <ac:picMk id="10" creationId="{63425D4E-FD86-C6BC-1CAB-E51CD2CF8706}"/>
          </ac:picMkLst>
        </pc:picChg>
        <pc:picChg chg="add">
          <ac:chgData name="Ibrahim Hewedy" userId="1fe39a3bad34914a" providerId="LiveId" clId="{DC20CFE1-9CD4-4ADF-9C99-C1432516858D}" dt="2026-09-20T11:58:40.072" v="107" actId="22"/>
          <ac:picMkLst>
            <pc:docMk/>
            <pc:sldMk cId="0" sldId="256"/>
            <ac:picMk id="12" creationId="{FA1675EB-55B2-8343-0D67-AE4BDCE9D333}"/>
          </ac:picMkLst>
        </pc:picChg>
      </pc:sldChg>
      <pc:sldChg chg="addSp mod">
        <pc:chgData name="Ibrahim Hewedy" userId="1fe39a3bad34914a" providerId="LiveId" clId="{DC20CFE1-9CD4-4ADF-9C99-C1432516858D}" dt="2026-09-20T11:45:41.094" v="78" actId="26606"/>
        <pc:sldMkLst>
          <pc:docMk/>
          <pc:sldMk cId="0" sldId="257"/>
        </pc:sldMkLst>
        <pc:spChg chg="add">
          <ac:chgData name="Ibrahim Hewedy" userId="1fe39a3bad34914a" providerId="LiveId" clId="{DC20CFE1-9CD4-4ADF-9C99-C1432516858D}" dt="2026-09-20T11:45:41.094" v="78" actId="26606"/>
          <ac:spMkLst>
            <pc:docMk/>
            <pc:sldMk cId="0" sldId="257"/>
            <ac:spMk id="7" creationId="{00000000-0000-0000-0000-000000000000}"/>
          </ac:spMkLst>
        </pc:spChg>
        <pc:spChg chg="add">
          <ac:chgData name="Ibrahim Hewedy" userId="1fe39a3bad34914a" providerId="LiveId" clId="{DC20CFE1-9CD4-4ADF-9C99-C1432516858D}" dt="2026-09-20T11:45:41.094" v="78" actId="26606"/>
          <ac:spMkLst>
            <pc:docMk/>
            <pc:sldMk cId="0" sldId="257"/>
            <ac:spMk id="8" creationId="{00000000-0000-0000-0000-000000000000}"/>
          </ac:spMkLst>
        </pc:spChg>
        <pc:picChg chg="add">
          <ac:chgData name="Ibrahim Hewedy" userId="1fe39a3bad34914a" providerId="LiveId" clId="{DC20CFE1-9CD4-4ADF-9C99-C1432516858D}" dt="2026-09-20T11:33:01.615" v="1" actId="26606"/>
          <ac:picMkLst>
            <pc:docMk/>
            <pc:sldMk cId="0" sldId="257"/>
            <ac:picMk id="6" creationId="{00000000-0000-0000-0000-000000000000}"/>
          </ac:picMkLst>
        </pc:picChg>
      </pc:sldChg>
      <pc:sldChg chg="addSp modSp mod">
        <pc:chgData name="Ibrahim Hewedy" userId="1fe39a3bad34914a" providerId="LiveId" clId="{DC20CFE1-9CD4-4ADF-9C99-C1432516858D}" dt="2026-09-20T11:43:46.605" v="76" actId="1076"/>
        <pc:sldMkLst>
          <pc:docMk/>
          <pc:sldMk cId="0" sldId="258"/>
        </pc:sldMkLst>
        <pc:spChg chg="mod">
          <ac:chgData name="Ibrahim Hewedy" userId="1fe39a3bad34914a" providerId="LiveId" clId="{DC20CFE1-9CD4-4ADF-9C99-C1432516858D}" dt="2026-09-20T11:42:05.417" v="28" actId="20577"/>
          <ac:spMkLst>
            <pc:docMk/>
            <pc:sldMk cId="0" sldId="258"/>
            <ac:spMk id="5" creationId="{00000000-0000-0000-0000-000000000000}"/>
          </ac:spMkLst>
        </pc:spChg>
        <pc:spChg chg="mod">
          <ac:chgData name="Ibrahim Hewedy" userId="1fe39a3bad34914a" providerId="LiveId" clId="{DC20CFE1-9CD4-4ADF-9C99-C1432516858D}" dt="2026-09-20T11:43:46.605" v="76" actId="1076"/>
          <ac:spMkLst>
            <pc:docMk/>
            <pc:sldMk cId="0" sldId="258"/>
            <ac:spMk id="6" creationId="{00000000-0000-0000-0000-000000000000}"/>
          </ac:spMkLst>
        </pc:spChg>
        <pc:picChg chg="add">
          <ac:chgData name="Ibrahim Hewedy" userId="1fe39a3bad34914a" providerId="LiveId" clId="{DC20CFE1-9CD4-4ADF-9C99-C1432516858D}" dt="2026-09-20T11:33:01.615" v="1" actId="26606"/>
          <ac:picMkLst>
            <pc:docMk/>
            <pc:sldMk cId="0" sldId="258"/>
            <ac:picMk id="7" creationId="{00000000-0000-0000-0000-000000000000}"/>
          </ac:picMkLst>
        </pc:picChg>
      </pc:sldChg>
      <pc:sldChg chg="addSp mod">
        <pc:chgData name="Ibrahim Hewedy" userId="1fe39a3bad34914a" providerId="LiveId" clId="{DC20CFE1-9CD4-4ADF-9C99-C1432516858D}" dt="2026-09-20T11:33:01.615" v="1" actId="26606"/>
        <pc:sldMkLst>
          <pc:docMk/>
          <pc:sldMk cId="0" sldId="259"/>
        </pc:sldMkLst>
        <pc:picChg chg="add">
          <ac:chgData name="Ibrahim Hewedy" userId="1fe39a3bad34914a" providerId="LiveId" clId="{DC20CFE1-9CD4-4ADF-9C99-C1432516858D}" dt="2026-09-20T11:33:01.615" v="1" actId="26606"/>
          <ac:picMkLst>
            <pc:docMk/>
            <pc:sldMk cId="0" sldId="259"/>
            <ac:picMk id="5" creationId="{00000000-0000-0000-0000-000000000000}"/>
          </ac:picMkLst>
        </pc:picChg>
      </pc:sldChg>
      <pc:sldChg chg="addSp mod">
        <pc:chgData name="Ibrahim Hewedy" userId="1fe39a3bad34914a" providerId="LiveId" clId="{DC20CFE1-9CD4-4ADF-9C99-C1432516858D}" dt="2026-09-20T11:33:01.615" v="1" actId="26606"/>
        <pc:sldMkLst>
          <pc:docMk/>
          <pc:sldMk cId="0" sldId="260"/>
        </pc:sldMkLst>
        <pc:picChg chg="add">
          <ac:chgData name="Ibrahim Hewedy" userId="1fe39a3bad34914a" providerId="LiveId" clId="{DC20CFE1-9CD4-4ADF-9C99-C1432516858D}" dt="2026-09-20T11:33:01.615" v="1" actId="26606"/>
          <ac:picMkLst>
            <pc:docMk/>
            <pc:sldMk cId="0" sldId="260"/>
            <ac:picMk id="11" creationId="{00000000-0000-0000-0000-000000000000}"/>
          </ac:picMkLst>
        </pc:picChg>
      </pc:sldChg>
      <pc:sldChg chg="addSp delSp modSp mod">
        <pc:chgData name="Ibrahim Hewedy" userId="1fe39a3bad34914a" providerId="LiveId" clId="{DC20CFE1-9CD4-4ADF-9C99-C1432516858D}" dt="2026-09-20T12:21:55.276" v="179" actId="33524"/>
        <pc:sldMkLst>
          <pc:docMk/>
          <pc:sldMk cId="0" sldId="261"/>
        </pc:sldMkLst>
        <pc:spChg chg="mod">
          <ac:chgData name="Ibrahim Hewedy" userId="1fe39a3bad34914a" providerId="LiveId" clId="{DC20CFE1-9CD4-4ADF-9C99-C1432516858D}" dt="2026-09-20T12:18:57.249" v="138" actId="1076"/>
          <ac:spMkLst>
            <pc:docMk/>
            <pc:sldMk cId="0" sldId="261"/>
            <ac:spMk id="6" creationId="{00000000-0000-0000-0000-000000000000}"/>
          </ac:spMkLst>
        </pc:spChg>
        <pc:spChg chg="mod">
          <ac:chgData name="Ibrahim Hewedy" userId="1fe39a3bad34914a" providerId="LiveId" clId="{DC20CFE1-9CD4-4ADF-9C99-C1432516858D}" dt="2026-09-20T12:19:03.268" v="139" actId="1076"/>
          <ac:spMkLst>
            <pc:docMk/>
            <pc:sldMk cId="0" sldId="261"/>
            <ac:spMk id="7" creationId="{00000000-0000-0000-0000-000000000000}"/>
          </ac:spMkLst>
        </pc:spChg>
        <pc:spChg chg="add del mod">
          <ac:chgData name="Ibrahim Hewedy" userId="1fe39a3bad34914a" providerId="LiveId" clId="{DC20CFE1-9CD4-4ADF-9C99-C1432516858D}" dt="2026-09-20T12:18:39.294" v="135" actId="478"/>
          <ac:spMkLst>
            <pc:docMk/>
            <pc:sldMk cId="0" sldId="261"/>
            <ac:spMk id="10" creationId="{A36D2326-3365-0ED9-2B9F-3204FE1B7C65}"/>
          </ac:spMkLst>
        </pc:spChg>
        <pc:spChg chg="add mod">
          <ac:chgData name="Ibrahim Hewedy" userId="1fe39a3bad34914a" providerId="LiveId" clId="{DC20CFE1-9CD4-4ADF-9C99-C1432516858D}" dt="2026-09-20T12:21:55.276" v="179" actId="33524"/>
          <ac:spMkLst>
            <pc:docMk/>
            <pc:sldMk cId="0" sldId="261"/>
            <ac:spMk id="12" creationId="{AD523FD2-CE0C-C8C4-EDD8-D825DE7F89E7}"/>
          </ac:spMkLst>
        </pc:spChg>
        <pc:spChg chg="add del">
          <ac:chgData name="Ibrahim Hewedy" userId="1fe39a3bad34914a" providerId="LiveId" clId="{DC20CFE1-9CD4-4ADF-9C99-C1432516858D}" dt="2026-09-20T12:19:28.243" v="151" actId="478"/>
          <ac:spMkLst>
            <pc:docMk/>
            <pc:sldMk cId="0" sldId="261"/>
            <ac:spMk id="14" creationId="{EAE21BB8-E7CE-58E3-1EA4-BB14FF55C79E}"/>
          </ac:spMkLst>
        </pc:spChg>
        <pc:picChg chg="add">
          <ac:chgData name="Ibrahim Hewedy" userId="1fe39a3bad34914a" providerId="LiveId" clId="{DC20CFE1-9CD4-4ADF-9C99-C1432516858D}" dt="2026-09-20T11:33:01.615" v="1" actId="26606"/>
          <ac:picMkLst>
            <pc:docMk/>
            <pc:sldMk cId="0" sldId="261"/>
            <ac:picMk id="8" creationId="{00000000-0000-0000-0000-000000000000}"/>
          </ac:picMkLst>
        </pc:picChg>
      </pc:sldChg>
      <pc:sldChg chg="addSp mod">
        <pc:chgData name="Ibrahim Hewedy" userId="1fe39a3bad34914a" providerId="LiveId" clId="{DC20CFE1-9CD4-4ADF-9C99-C1432516858D}" dt="2026-09-20T11:33:01.615" v="1" actId="26606"/>
        <pc:sldMkLst>
          <pc:docMk/>
          <pc:sldMk cId="0" sldId="262"/>
        </pc:sldMkLst>
        <pc:picChg chg="add">
          <ac:chgData name="Ibrahim Hewedy" userId="1fe39a3bad34914a" providerId="LiveId" clId="{DC20CFE1-9CD4-4ADF-9C99-C1432516858D}" dt="2026-09-20T11:33:01.615" v="1" actId="26606"/>
          <ac:picMkLst>
            <pc:docMk/>
            <pc:sldMk cId="0" sldId="262"/>
            <ac:picMk id="5" creationId="{00000000-0000-0000-0000-000000000000}"/>
          </ac:picMkLst>
        </pc:picChg>
      </pc:sldChg>
      <pc:sldChg chg="addSp modSp mod">
        <pc:chgData name="Ibrahim Hewedy" userId="1fe39a3bad34914a" providerId="LiveId" clId="{DC20CFE1-9CD4-4ADF-9C99-C1432516858D}" dt="2026-09-20T15:35:27.113" v="183" actId="20577"/>
        <pc:sldMkLst>
          <pc:docMk/>
          <pc:sldMk cId="0" sldId="263"/>
        </pc:sldMkLst>
        <pc:spChg chg="mod">
          <ac:chgData name="Ibrahim Hewedy" userId="1fe39a3bad34914a" providerId="LiveId" clId="{DC20CFE1-9CD4-4ADF-9C99-C1432516858D}" dt="2026-09-20T11:45:41.094" v="78" actId="26606"/>
          <ac:spMkLst>
            <pc:docMk/>
            <pc:sldMk cId="0" sldId="263"/>
            <ac:spMk id="2" creationId="{00000000-0000-0000-0000-000000000000}"/>
          </ac:spMkLst>
        </pc:spChg>
        <pc:spChg chg="mod">
          <ac:chgData name="Ibrahim Hewedy" userId="1fe39a3bad34914a" providerId="LiveId" clId="{DC20CFE1-9CD4-4ADF-9C99-C1432516858D}" dt="2026-09-20T15:35:27.113" v="183" actId="20577"/>
          <ac:spMkLst>
            <pc:docMk/>
            <pc:sldMk cId="0" sldId="263"/>
            <ac:spMk id="3" creationId="{00000000-0000-0000-0000-000000000000}"/>
          </ac:spMkLst>
        </pc:spChg>
        <pc:picChg chg="add">
          <ac:chgData name="Ibrahim Hewedy" userId="1fe39a3bad34914a" providerId="LiveId" clId="{DC20CFE1-9CD4-4ADF-9C99-C1432516858D}" dt="2026-09-20T11:33:01.615" v="1" actId="26606"/>
          <ac:picMkLst>
            <pc:docMk/>
            <pc:sldMk cId="0" sldId="263"/>
            <ac:picMk id="4" creationId="{00000000-0000-0000-0000-000000000000}"/>
          </ac:picMkLst>
        </pc:picChg>
      </pc:sldChg>
      <pc:sldChg chg="add">
        <pc:chgData name="Ibrahim Hewedy" userId="1fe39a3bad34914a" providerId="LiveId" clId="{DC20CFE1-9CD4-4ADF-9C99-C1432516858D}" dt="2026-09-20T11:45:41.094" v="78" actId="26606"/>
        <pc:sldMkLst>
          <pc:docMk/>
          <pc:sldMk cId="0"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83704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mailto:cleansweep81@outlook.com"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4F6C"/>
          </a:solidFill>
          <a:ln/>
        </p:spPr>
        <p:txBody>
          <a:bodyPr/>
          <a:lstStyle/>
          <a:p>
            <a:endParaRPr lang="en-GB"/>
          </a:p>
        </p:txBody>
      </p:sp>
      <p:sp>
        <p:nvSpPr>
          <p:cNvPr id="3" name="Text 1"/>
          <p:cNvSpPr/>
          <p:nvPr/>
        </p:nvSpPr>
        <p:spPr>
          <a:xfrm>
            <a:off x="640080" y="1097280"/>
            <a:ext cx="7315200" cy="731520"/>
          </a:xfrm>
          <a:prstGeom prst="rect">
            <a:avLst/>
          </a:prstGeom>
          <a:noFill/>
          <a:ln/>
        </p:spPr>
        <p:txBody>
          <a:bodyPr wrap="square" rtlCol="0" anchor="ctr"/>
          <a:lstStyle/>
          <a:p>
            <a:pPr marL="0" indent="0">
              <a:buNone/>
            </a:pPr>
            <a:r>
              <a:rPr lang="en-US" sz="2800" b="1" dirty="0">
                <a:solidFill>
                  <a:srgbClr val="FFFFFF"/>
                </a:solidFill>
              </a:rPr>
              <a:t>CLEAN SWEEP OASIS LTD</a:t>
            </a:r>
            <a:endParaRPr lang="en-US" sz="2800" dirty="0"/>
          </a:p>
        </p:txBody>
      </p:sp>
      <p:sp>
        <p:nvSpPr>
          <p:cNvPr id="4" name="Text 2"/>
          <p:cNvSpPr/>
          <p:nvPr/>
        </p:nvSpPr>
        <p:spPr>
          <a:xfrm>
            <a:off x="640080" y="1828800"/>
            <a:ext cx="7315200" cy="457200"/>
          </a:xfrm>
          <a:prstGeom prst="rect">
            <a:avLst/>
          </a:prstGeom>
          <a:noFill/>
          <a:ln/>
        </p:spPr>
        <p:txBody>
          <a:bodyPr wrap="square" rtlCol="0" anchor="ctr"/>
          <a:lstStyle/>
          <a:p>
            <a:pPr marL="0" indent="0">
              <a:buNone/>
            </a:pPr>
            <a:r>
              <a:rPr lang="en-US" sz="1800" dirty="0">
                <a:solidFill>
                  <a:srgbClr val="FFFFFF"/>
                </a:solidFill>
              </a:rPr>
              <a:t>Professional Cleaning &amp; Property Services</a:t>
            </a:r>
            <a:endParaRPr lang="en-US" sz="1800" dirty="0"/>
          </a:p>
        </p:txBody>
      </p:sp>
      <p:sp>
        <p:nvSpPr>
          <p:cNvPr id="5" name="Text 3"/>
          <p:cNvSpPr/>
          <p:nvPr/>
        </p:nvSpPr>
        <p:spPr>
          <a:xfrm>
            <a:off x="640080" y="2377440"/>
            <a:ext cx="6400800" cy="457200"/>
          </a:xfrm>
          <a:prstGeom prst="rect">
            <a:avLst/>
          </a:prstGeom>
          <a:noFill/>
          <a:ln/>
        </p:spPr>
        <p:txBody>
          <a:bodyPr wrap="square" rtlCol="0" anchor="ctr"/>
          <a:lstStyle/>
          <a:p>
            <a:pPr marL="0" indent="0">
              <a:buNone/>
            </a:pPr>
            <a:r>
              <a:rPr lang="en-US" sz="1600" dirty="0">
                <a:solidFill>
                  <a:srgbClr val="DDEEFF"/>
                </a:solidFill>
              </a:rPr>
              <a:t>Reliable • Professional • Family Run</a:t>
            </a:r>
            <a:endParaRPr lang="en-US" sz="1600" dirty="0"/>
          </a:p>
        </p:txBody>
      </p:sp>
      <p:sp>
        <p:nvSpPr>
          <p:cNvPr id="6" name="Text 4"/>
          <p:cNvSpPr/>
          <p:nvPr/>
        </p:nvSpPr>
        <p:spPr>
          <a:xfrm>
            <a:off x="640080" y="5303520"/>
            <a:ext cx="4572000" cy="365760"/>
          </a:xfrm>
          <a:prstGeom prst="rect">
            <a:avLst/>
          </a:prstGeom>
          <a:noFill/>
          <a:ln/>
        </p:spPr>
        <p:txBody>
          <a:bodyPr wrap="square" rtlCol="0" anchor="ctr"/>
          <a:lstStyle/>
          <a:p>
            <a:pPr marL="0" indent="0">
              <a:buNone/>
            </a:pPr>
            <a:r>
              <a:rPr lang="en-US" sz="1400" dirty="0">
                <a:solidFill>
                  <a:srgbClr val="FFFFFF"/>
                </a:solidFill>
              </a:rPr>
              <a:t>Email: cleansweep89@outlook.com</a:t>
            </a:r>
            <a:endParaRPr lang="en-US" sz="1400" dirty="0"/>
          </a:p>
        </p:txBody>
      </p:sp>
      <p:pic>
        <p:nvPicPr>
          <p:cNvPr id="12" name="Clean Sweep Oasis logo" descr="image.png">
            <a:extLst>
              <a:ext uri="{FF2B5EF4-FFF2-40B4-BE49-F238E27FC236}">
                <a16:creationId xmlns:a16="http://schemas.microsoft.com/office/drawing/2014/main" id="{FA1675EB-55B2-8343-0D67-AE4BDCE9D333}"/>
              </a:ext>
            </a:extLst>
          </p:cNvPr>
          <p:cNvPicPr>
            <a:picLocks noChangeAspect="1"/>
          </p:cNvPicPr>
          <p:nvPr/>
        </p:nvPicPr>
        <p:blipFill>
          <a:blip r:embed="rId3"/>
          <a:stretch>
            <a:fillRect/>
          </a:stretch>
        </p:blipFill>
        <p:spPr>
          <a:xfrm>
            <a:off x="10655808" y="5994000"/>
            <a:ext cx="1280160" cy="607968"/>
          </a:xfrm>
          <a:prstGeom prst="rect">
            <a:avLst/>
          </a:prstGeom>
        </p:spPr>
      </p:pic>
      <p:pic>
        <p:nvPicPr>
          <p:cNvPr id="10" name="Picture 9">
            <a:extLst>
              <a:ext uri="{FF2B5EF4-FFF2-40B4-BE49-F238E27FC236}">
                <a16:creationId xmlns:a16="http://schemas.microsoft.com/office/drawing/2014/main" id="{63425D4E-FD86-C6BC-1CAB-E51CD2CF8706}"/>
              </a:ext>
            </a:extLst>
          </p:cNvPr>
          <p:cNvPicPr>
            <a:picLocks noChangeAspect="1"/>
          </p:cNvPicPr>
          <p:nvPr/>
        </p:nvPicPr>
        <p:blipFill>
          <a:blip r:embed="rId4"/>
          <a:stretch>
            <a:fillRect/>
          </a:stretch>
        </p:blipFill>
        <p:spPr>
          <a:xfrm>
            <a:off x="6549977" y="696131"/>
            <a:ext cx="3136560" cy="3362618"/>
          </a:xfrm>
          <a:prstGeom prst="rect">
            <a:avLst/>
          </a:prstGeom>
          <a:effectLst>
            <a:glow rad="228600">
              <a:schemeClr val="tx2">
                <a:lumMod val="75000"/>
                <a:alpha val="40000"/>
              </a:schemeClr>
            </a:glow>
            <a:innerShdw blurRad="63500" dist="50800" dir="13500000">
              <a:prstClr val="black">
                <a:alpha val="50000"/>
              </a:prstClr>
            </a:innerShdw>
            <a:softEdge rad="317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B4F6C"/>
          </a:solidFill>
          <a:ln w="12700">
            <a:solidFill>
              <a:srgbClr val="0B4F6C"/>
            </a:solidFill>
            <a:prstDash val="solid"/>
          </a:ln>
        </p:spPr>
        <p:txBody>
          <a:bodyPr/>
          <a:lstStyle/>
          <a:p>
            <a:endParaRPr lang="en-GB"/>
          </a:p>
        </p:txBody>
      </p:sp>
      <p:sp>
        <p:nvSpPr>
          <p:cNvPr id="3" name="Text 1"/>
          <p:cNvSpPr/>
          <p:nvPr/>
        </p:nvSpPr>
        <p:spPr>
          <a:xfrm>
            <a:off x="365760" y="109728"/>
            <a:ext cx="7315200" cy="274320"/>
          </a:xfrm>
          <a:prstGeom prst="rect">
            <a:avLst/>
          </a:prstGeom>
          <a:noFill/>
          <a:ln/>
        </p:spPr>
        <p:txBody>
          <a:bodyPr wrap="square" rtlCol="0" anchor="ctr"/>
          <a:lstStyle/>
          <a:p>
            <a:pPr marL="0" indent="0">
              <a:buNone/>
            </a:pPr>
            <a:r>
              <a:rPr lang="en-US" sz="2400" b="1" dirty="0">
                <a:solidFill>
                  <a:srgbClr val="FFFFFF"/>
                </a:solidFill>
              </a:rPr>
              <a:t>About Clean Sweep Oasis</a:t>
            </a:r>
            <a:endParaRPr lang="en-US" sz="2400" dirty="0"/>
          </a:p>
        </p:txBody>
      </p:sp>
      <p:sp>
        <p:nvSpPr>
          <p:cNvPr id="4" name="Text 2"/>
          <p:cNvSpPr/>
          <p:nvPr/>
        </p:nvSpPr>
        <p:spPr>
          <a:xfrm>
            <a:off x="457200" y="914400"/>
            <a:ext cx="10058400" cy="914400"/>
          </a:xfrm>
          <a:prstGeom prst="rect">
            <a:avLst/>
          </a:prstGeom>
          <a:noFill/>
          <a:ln/>
        </p:spPr>
        <p:txBody>
          <a:bodyPr wrap="square" rtlCol="0" anchor="ctr"/>
          <a:lstStyle/>
          <a:p>
            <a:pPr marL="0" indent="0">
              <a:buNone/>
            </a:pPr>
            <a:r>
              <a:rPr lang="en-US" sz="2000" dirty="0">
                <a:solidFill>
                  <a:srgbClr val="000000"/>
                </a:solidFill>
              </a:rPr>
              <a:t>A trusted family-run business providing cleaning and property support services to domestic and commercial clients.</a:t>
            </a:r>
            <a:endParaRPr lang="en-US" sz="2000" dirty="0"/>
          </a:p>
        </p:txBody>
      </p:sp>
      <p:sp>
        <p:nvSpPr>
          <p:cNvPr id="5" name="Text 3"/>
          <p:cNvSpPr/>
          <p:nvPr/>
        </p:nvSpPr>
        <p:spPr>
          <a:xfrm>
            <a:off x="640080" y="1828800"/>
            <a:ext cx="4572000" cy="1828800"/>
          </a:xfrm>
          <a:prstGeom prst="rect">
            <a:avLst/>
          </a:prstGeom>
          <a:noFill/>
          <a:ln/>
        </p:spPr>
        <p:txBody>
          <a:bodyPr wrap="square" rtlCol="0" anchor="ctr"/>
          <a:lstStyle/>
          <a:p>
            <a:pPr marL="0" indent="0">
              <a:buNone/>
            </a:pPr>
            <a:r>
              <a:rPr lang="en-US" sz="1800" dirty="0">
                <a:solidFill>
                  <a:srgbClr val="000000"/>
                </a:solidFill>
              </a:rPr>
              <a:t>• High cleaning standards</a:t>
            </a:r>
            <a:endParaRPr lang="en-US" sz="1800" dirty="0"/>
          </a:p>
          <a:p>
            <a:pPr marL="0" indent="0">
              <a:buNone/>
            </a:pPr>
            <a:r>
              <a:rPr lang="en-US" sz="1800" dirty="0">
                <a:solidFill>
                  <a:srgbClr val="000000"/>
                </a:solidFill>
              </a:rPr>
              <a:t>• Friendly, professional service</a:t>
            </a:r>
            <a:endParaRPr lang="en-US" sz="1800" dirty="0"/>
          </a:p>
          <a:p>
            <a:pPr marL="0" indent="0">
              <a:buNone/>
            </a:pPr>
            <a:r>
              <a:rPr lang="en-US" sz="1800" dirty="0">
                <a:solidFill>
                  <a:srgbClr val="000000"/>
                </a:solidFill>
              </a:rPr>
              <a:t>• Flexible scheduling</a:t>
            </a:r>
            <a:endParaRPr lang="en-US" sz="1800" dirty="0"/>
          </a:p>
          <a:p>
            <a:pPr marL="0" indent="0">
              <a:buNone/>
            </a:pPr>
            <a:r>
              <a:rPr lang="en-US" sz="1800" dirty="0">
                <a:solidFill>
                  <a:srgbClr val="000000"/>
                </a:solidFill>
              </a:rPr>
              <a:t>• Competitive pricing</a:t>
            </a:r>
            <a:endParaRPr lang="en-US" sz="1800" dirty="0"/>
          </a:p>
          <a:p>
            <a:pPr marL="0" indent="0">
              <a:buNone/>
            </a:pPr>
            <a:r>
              <a:rPr lang="en-US" sz="1800" dirty="0">
                <a:solidFill>
                  <a:srgbClr val="000000"/>
                </a:solidFill>
              </a:rPr>
              <a:t>• Customer-focused approach</a:t>
            </a:r>
            <a:endParaRPr lang="en-US" sz="1800" dirty="0"/>
          </a:p>
        </p:txBody>
      </p:sp>
      <p:pic>
        <p:nvPicPr>
          <p:cNvPr id="6" name="Clean Sweep Oasis logo" descr="image.png"/>
          <p:cNvPicPr>
            <a:picLocks noChangeAspect="1"/>
          </p:cNvPicPr>
          <p:nvPr/>
        </p:nvPicPr>
        <p:blipFill>
          <a:blip r:embed="rId3"/>
          <a:stretch>
            <a:fillRect/>
          </a:stretch>
        </p:blipFill>
        <p:spPr>
          <a:xfrm>
            <a:off x="10655808" y="5994000"/>
            <a:ext cx="1280160" cy="607968"/>
          </a:xfrm>
          <a:prstGeom prst="rect">
            <a:avLst/>
          </a:prstGeom>
        </p:spPr>
      </p:pic>
      <p:sp>
        <p:nvSpPr>
          <p:cNvPr id="7" name="TextBox 6"/>
          <p:cNvSpPr txBox="1"/>
          <p:nvPr/>
        </p:nvSpPr>
        <p:spPr>
          <a:xfrm>
            <a:off x="6583680" y="1828800"/>
            <a:ext cx="4663440" cy="411480"/>
          </a:xfrm>
          <a:prstGeom prst="rect">
            <a:avLst/>
          </a:prstGeom>
          <a:noFill/>
        </p:spPr>
        <p:txBody>
          <a:bodyPr wrap="square" lIns="0" tIns="0" rIns="0" bIns="0">
            <a:spAutoFit/>
          </a:bodyPr>
          <a:lstStyle/>
          <a:p>
            <a:pPr algn="l">
              <a:lnSpc>
                <a:spcPct val="100000"/>
              </a:lnSpc>
              <a:spcBef>
                <a:spcPts val="0"/>
              </a:spcBef>
              <a:spcAft>
                <a:spcPts val="0"/>
              </a:spcAft>
            </a:pPr>
            <a:r>
              <a:rPr sz="1800" b="1">
                <a:solidFill>
                  <a:srgbClr val="0B4F6C"/>
                </a:solidFill>
              </a:rPr>
              <a:t>Commercial credentials</a:t>
            </a:r>
          </a:p>
        </p:txBody>
      </p:sp>
      <p:sp>
        <p:nvSpPr>
          <p:cNvPr id="8" name="TextBox 7"/>
          <p:cNvSpPr txBox="1"/>
          <p:nvPr/>
        </p:nvSpPr>
        <p:spPr>
          <a:xfrm>
            <a:off x="6583680" y="2331720"/>
            <a:ext cx="4754880" cy="1325880"/>
          </a:xfrm>
          <a:prstGeom prst="rect">
            <a:avLst/>
          </a:prstGeom>
          <a:noFill/>
        </p:spPr>
        <p:txBody>
          <a:bodyPr wrap="square" lIns="0" tIns="0" rIns="0" bIns="0">
            <a:spAutoFit/>
          </a:bodyPr>
          <a:lstStyle/>
          <a:p>
            <a:pPr algn="l">
              <a:lnSpc>
                <a:spcPct val="100000"/>
              </a:lnSpc>
              <a:spcBef>
                <a:spcPts val="0"/>
              </a:spcBef>
              <a:spcAft>
                <a:spcPts val="800"/>
              </a:spcAft>
            </a:pPr>
            <a:r>
              <a:rPr sz="1800" b="0">
                <a:solidFill>
                  <a:srgbClr val="000000"/>
                </a:solidFill>
              </a:rPr>
              <a:t>• Public liability insured</a:t>
            </a:r>
          </a:p>
          <a:p>
            <a:pPr algn="l">
              <a:lnSpc>
                <a:spcPct val="100000"/>
              </a:lnSpc>
              <a:spcBef>
                <a:spcPts val="0"/>
              </a:spcBef>
              <a:spcAft>
                <a:spcPts val="0"/>
              </a:spcAft>
            </a:pPr>
            <a:r>
              <a:rPr sz="1800" b="0">
                <a:solidFill>
                  <a:srgbClr val="000000"/>
                </a:solidFill>
              </a:rPr>
              <a:t>• COSHH &amp; health-and-safety practices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B4F6C"/>
          </a:solidFill>
          <a:ln w="12700">
            <a:solidFill>
              <a:srgbClr val="0B4F6C"/>
            </a:solidFill>
            <a:prstDash val="solid"/>
          </a:ln>
        </p:spPr>
        <p:txBody>
          <a:bodyPr/>
          <a:lstStyle/>
          <a:p>
            <a:endParaRPr lang="en-GB"/>
          </a:p>
        </p:txBody>
      </p:sp>
      <p:sp>
        <p:nvSpPr>
          <p:cNvPr id="3" name="Text 1"/>
          <p:cNvSpPr/>
          <p:nvPr/>
        </p:nvSpPr>
        <p:spPr>
          <a:xfrm>
            <a:off x="365760" y="109728"/>
            <a:ext cx="7315200" cy="274320"/>
          </a:xfrm>
          <a:prstGeom prst="rect">
            <a:avLst/>
          </a:prstGeom>
          <a:noFill/>
          <a:ln/>
        </p:spPr>
        <p:txBody>
          <a:bodyPr wrap="square" rtlCol="0" anchor="ctr"/>
          <a:lstStyle/>
          <a:p>
            <a:pPr marL="0" indent="0">
              <a:buNone/>
            </a:pPr>
            <a:r>
              <a:rPr lang="en-US" sz="2400" b="1" dirty="0">
                <a:solidFill>
                  <a:srgbClr val="FFFFFF"/>
                </a:solidFill>
              </a:rPr>
              <a:t>Our Services</a:t>
            </a:r>
            <a:endParaRPr lang="en-US" sz="2400" dirty="0"/>
          </a:p>
        </p:txBody>
      </p:sp>
      <p:sp>
        <p:nvSpPr>
          <p:cNvPr id="4" name="Text 2"/>
          <p:cNvSpPr/>
          <p:nvPr/>
        </p:nvSpPr>
        <p:spPr>
          <a:xfrm>
            <a:off x="457200" y="914400"/>
            <a:ext cx="3657600" cy="1828800"/>
          </a:xfrm>
          <a:prstGeom prst="rect">
            <a:avLst/>
          </a:prstGeom>
          <a:noFill/>
          <a:ln/>
        </p:spPr>
        <p:txBody>
          <a:bodyPr wrap="square" rtlCol="0" anchor="ctr"/>
          <a:lstStyle/>
          <a:p>
            <a:pPr marL="0" indent="0">
              <a:buNone/>
            </a:pPr>
            <a:r>
              <a:rPr lang="en-US" sz="1800" dirty="0">
                <a:solidFill>
                  <a:srgbClr val="000000"/>
                </a:solidFill>
              </a:rPr>
              <a:t>Commercial Cleaning</a:t>
            </a:r>
            <a:endParaRPr lang="en-US" sz="1800" dirty="0"/>
          </a:p>
          <a:p>
            <a:pPr marL="0" indent="0">
              <a:buNone/>
            </a:pPr>
            <a:r>
              <a:rPr lang="en-US" sz="1800" dirty="0">
                <a:solidFill>
                  <a:srgbClr val="000000"/>
                </a:solidFill>
              </a:rPr>
              <a:t>• Offices</a:t>
            </a:r>
            <a:endParaRPr lang="en-US" sz="1800" dirty="0"/>
          </a:p>
          <a:p>
            <a:pPr marL="0" indent="0">
              <a:buNone/>
            </a:pPr>
            <a:r>
              <a:rPr lang="en-US" sz="1800" dirty="0">
                <a:solidFill>
                  <a:srgbClr val="000000"/>
                </a:solidFill>
              </a:rPr>
              <a:t>• Retail Premises</a:t>
            </a:r>
            <a:endParaRPr lang="en-US" sz="1800" dirty="0"/>
          </a:p>
          <a:p>
            <a:pPr marL="0" indent="0">
              <a:buNone/>
            </a:pPr>
            <a:r>
              <a:rPr lang="en-US" sz="1800" dirty="0">
                <a:solidFill>
                  <a:srgbClr val="000000"/>
                </a:solidFill>
              </a:rPr>
              <a:t>• Communal Areas</a:t>
            </a:r>
            <a:endParaRPr lang="en-US" sz="1800" dirty="0"/>
          </a:p>
        </p:txBody>
      </p:sp>
      <p:sp>
        <p:nvSpPr>
          <p:cNvPr id="5" name="Text 3"/>
          <p:cNvSpPr/>
          <p:nvPr/>
        </p:nvSpPr>
        <p:spPr>
          <a:xfrm>
            <a:off x="4206240" y="914400"/>
            <a:ext cx="3657600" cy="1828800"/>
          </a:xfrm>
          <a:prstGeom prst="rect">
            <a:avLst/>
          </a:prstGeom>
          <a:noFill/>
          <a:ln/>
        </p:spPr>
        <p:txBody>
          <a:bodyPr wrap="square" rtlCol="0" anchor="ctr"/>
          <a:lstStyle/>
          <a:p>
            <a:pPr marL="0" indent="0">
              <a:buNone/>
            </a:pPr>
            <a:r>
              <a:rPr lang="en-US" sz="1800" dirty="0">
                <a:solidFill>
                  <a:srgbClr val="000000"/>
                </a:solidFill>
              </a:rPr>
              <a:t>Domestic Cleaning</a:t>
            </a:r>
            <a:endParaRPr lang="en-US" sz="1800" dirty="0"/>
          </a:p>
          <a:p>
            <a:pPr marL="0" indent="0">
              <a:buNone/>
            </a:pPr>
            <a:r>
              <a:rPr lang="en-US" sz="1800" dirty="0">
                <a:solidFill>
                  <a:srgbClr val="000000"/>
                </a:solidFill>
              </a:rPr>
              <a:t>• Deep Cleaning</a:t>
            </a:r>
            <a:endParaRPr lang="en-US" sz="1800" dirty="0"/>
          </a:p>
          <a:p>
            <a:pPr marL="0" indent="0">
              <a:buNone/>
            </a:pPr>
            <a:r>
              <a:rPr lang="en-US" sz="1800" dirty="0">
                <a:solidFill>
                  <a:srgbClr val="000000"/>
                </a:solidFill>
              </a:rPr>
              <a:t>• One-Off Visits</a:t>
            </a:r>
            <a:endParaRPr lang="en-US" sz="1800" dirty="0"/>
          </a:p>
        </p:txBody>
      </p:sp>
      <p:sp>
        <p:nvSpPr>
          <p:cNvPr id="6" name="Text 4"/>
          <p:cNvSpPr/>
          <p:nvPr/>
        </p:nvSpPr>
        <p:spPr>
          <a:xfrm>
            <a:off x="7955280" y="1396800"/>
            <a:ext cx="3657600" cy="1828800"/>
          </a:xfrm>
          <a:prstGeom prst="rect">
            <a:avLst/>
          </a:prstGeom>
          <a:noFill/>
          <a:ln/>
        </p:spPr>
        <p:txBody>
          <a:bodyPr wrap="square" rtlCol="0" anchor="ctr"/>
          <a:lstStyle/>
          <a:p>
            <a:pPr marL="0" indent="0">
              <a:buNone/>
            </a:pPr>
            <a:r>
              <a:rPr lang="en-US" sz="1800" dirty="0">
                <a:solidFill>
                  <a:srgbClr val="000000"/>
                </a:solidFill>
              </a:rPr>
              <a:t>Specialist Services</a:t>
            </a:r>
            <a:endParaRPr lang="en-US" sz="1800" dirty="0"/>
          </a:p>
          <a:p>
            <a:pPr marL="285750" indent="-285750">
              <a:buFont typeface="Arial" panose="020B0604020202020204" pitchFamily="34" charset="0"/>
              <a:buChar char="•"/>
            </a:pPr>
            <a:r>
              <a:rPr lang="en-US" sz="1800" dirty="0">
                <a:solidFill>
                  <a:srgbClr val="000000"/>
                </a:solidFill>
              </a:rPr>
              <a:t>End of Tenancy</a:t>
            </a:r>
            <a:endParaRPr lang="en-US" sz="1800" dirty="0"/>
          </a:p>
          <a:p>
            <a:pPr marL="285750" indent="-285750">
              <a:buFont typeface="Arial" panose="020B0604020202020204" pitchFamily="34" charset="0"/>
              <a:buChar char="•"/>
            </a:pPr>
            <a:r>
              <a:rPr lang="en-US" sz="1800" dirty="0">
                <a:solidFill>
                  <a:srgbClr val="000000"/>
                </a:solidFill>
              </a:rPr>
              <a:t>Gardening</a:t>
            </a:r>
            <a:endParaRPr lang="en-US" dirty="0">
              <a:solidFill>
                <a:srgbClr val="000000"/>
              </a:solidFill>
            </a:endParaRPr>
          </a:p>
          <a:p>
            <a:pPr marL="285750" indent="-285750">
              <a:buFont typeface="Arial" panose="020B0604020202020204" pitchFamily="34" charset="0"/>
              <a:buChar char="•"/>
            </a:pPr>
            <a:r>
              <a:rPr lang="en-US" dirty="0">
                <a:solidFill>
                  <a:srgbClr val="000000"/>
                </a:solidFill>
              </a:rPr>
              <a:t>Carpet clean</a:t>
            </a:r>
          </a:p>
          <a:p>
            <a:pPr marL="285750" indent="-285750">
              <a:buFont typeface="Arial" panose="020B0604020202020204" pitchFamily="34" charset="0"/>
              <a:buChar char="•"/>
            </a:pPr>
            <a:r>
              <a:rPr lang="en-US" sz="1800" dirty="0">
                <a:solidFill>
                  <a:srgbClr val="000000"/>
                </a:solidFill>
              </a:rPr>
              <a:t>Windows cleaning</a:t>
            </a:r>
            <a:endParaRPr lang="en-US" dirty="0"/>
          </a:p>
          <a:p>
            <a:pPr marL="285750" indent="-285750">
              <a:buFont typeface="Arial" panose="020B0604020202020204" pitchFamily="34" charset="0"/>
              <a:buChar char="•"/>
            </a:pPr>
            <a:r>
              <a:rPr lang="en-US" sz="1800" dirty="0">
                <a:solidFill>
                  <a:srgbClr val="000000"/>
                </a:solidFill>
              </a:rPr>
              <a:t>Odd Jobs</a:t>
            </a:r>
            <a:endParaRPr lang="en-US" sz="1800" dirty="0"/>
          </a:p>
        </p:txBody>
      </p:sp>
      <p:pic>
        <p:nvPicPr>
          <p:cNvPr id="7" name="Clean Sweep Oasis logo" descr="image.png"/>
          <p:cNvPicPr>
            <a:picLocks noChangeAspect="1"/>
          </p:cNvPicPr>
          <p:nvPr/>
        </p:nvPicPr>
        <p:blipFill>
          <a:blip r:embed="rId3"/>
          <a:stretch>
            <a:fillRect/>
          </a:stretch>
        </p:blipFill>
        <p:spPr>
          <a:xfrm>
            <a:off x="10655808" y="5994000"/>
            <a:ext cx="1280160" cy="6079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457200"/>
          </a:xfrm>
          <a:prstGeom prst="rect">
            <a:avLst/>
          </a:prstGeom>
          <a:solidFill>
            <a:srgbClr val="0B4F6C"/>
          </a:solidFill>
          <a:ln>
            <a:solidFill>
              <a:srgbClr val="0B4F6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09728"/>
            <a:ext cx="7315200" cy="274320"/>
          </a:xfrm>
          <a:prstGeom prst="rect">
            <a:avLst/>
          </a:prstGeom>
          <a:noFill/>
        </p:spPr>
        <p:txBody>
          <a:bodyPr wrap="square" lIns="0" tIns="0" rIns="0" bIns="0">
            <a:spAutoFit/>
          </a:bodyPr>
          <a:lstStyle/>
          <a:p>
            <a:pPr algn="l">
              <a:lnSpc>
                <a:spcPct val="100000"/>
              </a:lnSpc>
              <a:spcBef>
                <a:spcPts val="0"/>
              </a:spcBef>
              <a:spcAft>
                <a:spcPts val="0"/>
              </a:spcAft>
            </a:pPr>
            <a:r>
              <a:rPr sz="2400" b="1">
                <a:solidFill>
                  <a:srgbClr val="FFFFFF"/>
                </a:solidFill>
              </a:rPr>
              <a:t>How We Work</a:t>
            </a:r>
          </a:p>
        </p:txBody>
      </p:sp>
      <p:sp>
        <p:nvSpPr>
          <p:cNvPr id="4" name="TextBox 3"/>
          <p:cNvSpPr txBox="1"/>
          <p:nvPr/>
        </p:nvSpPr>
        <p:spPr>
          <a:xfrm>
            <a:off x="548640" y="1078992"/>
            <a:ext cx="2560320" cy="502920"/>
          </a:xfrm>
          <a:prstGeom prst="rect">
            <a:avLst/>
          </a:prstGeom>
          <a:noFill/>
        </p:spPr>
        <p:txBody>
          <a:bodyPr wrap="square" lIns="0" tIns="0" rIns="0" bIns="0">
            <a:spAutoFit/>
          </a:bodyPr>
          <a:lstStyle/>
          <a:p>
            <a:pPr algn="l">
              <a:lnSpc>
                <a:spcPct val="100000"/>
              </a:lnSpc>
              <a:spcBef>
                <a:spcPts val="0"/>
              </a:spcBef>
              <a:spcAft>
                <a:spcPts val="0"/>
              </a:spcAft>
            </a:pPr>
            <a:r>
              <a:rPr sz="2800" b="1">
                <a:solidFill>
                  <a:srgbClr val="0B4F6C"/>
                </a:solidFill>
              </a:rPr>
              <a:t>01</a:t>
            </a:r>
          </a:p>
        </p:txBody>
      </p:sp>
      <p:sp>
        <p:nvSpPr>
          <p:cNvPr id="5" name="TextBox 4"/>
          <p:cNvSpPr txBox="1"/>
          <p:nvPr/>
        </p:nvSpPr>
        <p:spPr>
          <a:xfrm>
            <a:off x="548640" y="1700784"/>
            <a:ext cx="2560320" cy="502920"/>
          </a:xfrm>
          <a:prstGeom prst="rect">
            <a:avLst/>
          </a:prstGeom>
          <a:noFill/>
        </p:spPr>
        <p:txBody>
          <a:bodyPr wrap="square" lIns="0" tIns="0" rIns="0" bIns="0">
            <a:spAutoFit/>
          </a:bodyPr>
          <a:lstStyle/>
          <a:p>
            <a:pPr algn="l">
              <a:lnSpc>
                <a:spcPct val="100000"/>
              </a:lnSpc>
              <a:spcBef>
                <a:spcPts val="0"/>
              </a:spcBef>
              <a:spcAft>
                <a:spcPts val="0"/>
              </a:spcAft>
            </a:pPr>
            <a:r>
              <a:rPr sz="1800" b="1">
                <a:solidFill>
                  <a:srgbClr val="0B4F6C"/>
                </a:solidFill>
              </a:rPr>
              <a:t>Site visit</a:t>
            </a:r>
          </a:p>
        </p:txBody>
      </p:sp>
      <p:sp>
        <p:nvSpPr>
          <p:cNvPr id="6" name="TextBox 5"/>
          <p:cNvSpPr txBox="1"/>
          <p:nvPr/>
        </p:nvSpPr>
        <p:spPr>
          <a:xfrm>
            <a:off x="548640" y="2331720"/>
            <a:ext cx="2514600" cy="1463040"/>
          </a:xfrm>
          <a:prstGeom prst="rect">
            <a:avLst/>
          </a:prstGeom>
          <a:noFill/>
        </p:spPr>
        <p:txBody>
          <a:bodyPr wrap="square" lIns="0" tIns="0" rIns="0" bIns="0">
            <a:spAutoFit/>
          </a:bodyPr>
          <a:lstStyle/>
          <a:p>
            <a:pPr algn="l">
              <a:lnSpc>
                <a:spcPct val="108000"/>
              </a:lnSpc>
              <a:spcBef>
                <a:spcPts val="0"/>
              </a:spcBef>
              <a:spcAft>
                <a:spcPts val="0"/>
              </a:spcAft>
            </a:pPr>
            <a:r>
              <a:rPr sz="1600" b="0">
                <a:solidFill>
                  <a:srgbClr val="000000"/>
                </a:solidFill>
              </a:rPr>
              <a:t>We discuss your premises, access, schedule and priorities.</a:t>
            </a:r>
          </a:p>
        </p:txBody>
      </p:sp>
      <p:sp>
        <p:nvSpPr>
          <p:cNvPr id="7" name="TextBox 6"/>
          <p:cNvSpPr txBox="1"/>
          <p:nvPr/>
        </p:nvSpPr>
        <p:spPr>
          <a:xfrm>
            <a:off x="3383280" y="1078992"/>
            <a:ext cx="2560320" cy="502920"/>
          </a:xfrm>
          <a:prstGeom prst="rect">
            <a:avLst/>
          </a:prstGeom>
          <a:noFill/>
        </p:spPr>
        <p:txBody>
          <a:bodyPr wrap="square" lIns="0" tIns="0" rIns="0" bIns="0">
            <a:spAutoFit/>
          </a:bodyPr>
          <a:lstStyle/>
          <a:p>
            <a:pPr algn="l">
              <a:lnSpc>
                <a:spcPct val="100000"/>
              </a:lnSpc>
              <a:spcBef>
                <a:spcPts val="0"/>
              </a:spcBef>
              <a:spcAft>
                <a:spcPts val="0"/>
              </a:spcAft>
            </a:pPr>
            <a:r>
              <a:rPr sz="2800" b="1">
                <a:solidFill>
                  <a:srgbClr val="0B4F6C"/>
                </a:solidFill>
              </a:rPr>
              <a:t>02</a:t>
            </a:r>
          </a:p>
        </p:txBody>
      </p:sp>
      <p:sp>
        <p:nvSpPr>
          <p:cNvPr id="8" name="TextBox 7"/>
          <p:cNvSpPr txBox="1"/>
          <p:nvPr/>
        </p:nvSpPr>
        <p:spPr>
          <a:xfrm>
            <a:off x="3383280" y="1700784"/>
            <a:ext cx="2560320" cy="502920"/>
          </a:xfrm>
          <a:prstGeom prst="rect">
            <a:avLst/>
          </a:prstGeom>
          <a:noFill/>
        </p:spPr>
        <p:txBody>
          <a:bodyPr wrap="square" lIns="0" tIns="0" rIns="0" bIns="0">
            <a:spAutoFit/>
          </a:bodyPr>
          <a:lstStyle/>
          <a:p>
            <a:pPr algn="l">
              <a:lnSpc>
                <a:spcPct val="100000"/>
              </a:lnSpc>
              <a:spcBef>
                <a:spcPts val="0"/>
              </a:spcBef>
              <a:spcAft>
                <a:spcPts val="0"/>
              </a:spcAft>
            </a:pPr>
            <a:r>
              <a:rPr sz="1800" b="1">
                <a:solidFill>
                  <a:srgbClr val="0B4F6C"/>
                </a:solidFill>
              </a:rPr>
              <a:t>Tailored quotation</a:t>
            </a:r>
          </a:p>
        </p:txBody>
      </p:sp>
      <p:sp>
        <p:nvSpPr>
          <p:cNvPr id="9" name="TextBox 8"/>
          <p:cNvSpPr txBox="1"/>
          <p:nvPr/>
        </p:nvSpPr>
        <p:spPr>
          <a:xfrm>
            <a:off x="3383280" y="2331720"/>
            <a:ext cx="2514600" cy="1463040"/>
          </a:xfrm>
          <a:prstGeom prst="rect">
            <a:avLst/>
          </a:prstGeom>
          <a:noFill/>
        </p:spPr>
        <p:txBody>
          <a:bodyPr wrap="square" lIns="0" tIns="0" rIns="0" bIns="0">
            <a:spAutoFit/>
          </a:bodyPr>
          <a:lstStyle/>
          <a:p>
            <a:pPr algn="l">
              <a:lnSpc>
                <a:spcPct val="108000"/>
              </a:lnSpc>
              <a:spcBef>
                <a:spcPts val="0"/>
              </a:spcBef>
              <a:spcAft>
                <a:spcPts val="0"/>
              </a:spcAft>
            </a:pPr>
            <a:r>
              <a:rPr sz="1600" b="0">
                <a:solidFill>
                  <a:srgbClr val="000000"/>
                </a:solidFill>
              </a:rPr>
              <a:t>You receive a no-obligation quote based on the service required.</a:t>
            </a:r>
          </a:p>
        </p:txBody>
      </p:sp>
      <p:sp>
        <p:nvSpPr>
          <p:cNvPr id="10" name="TextBox 9"/>
          <p:cNvSpPr txBox="1"/>
          <p:nvPr/>
        </p:nvSpPr>
        <p:spPr>
          <a:xfrm>
            <a:off x="6217920" y="1078992"/>
            <a:ext cx="2560320" cy="502920"/>
          </a:xfrm>
          <a:prstGeom prst="rect">
            <a:avLst/>
          </a:prstGeom>
          <a:noFill/>
        </p:spPr>
        <p:txBody>
          <a:bodyPr wrap="square" lIns="0" tIns="0" rIns="0" bIns="0">
            <a:spAutoFit/>
          </a:bodyPr>
          <a:lstStyle/>
          <a:p>
            <a:pPr algn="l">
              <a:lnSpc>
                <a:spcPct val="100000"/>
              </a:lnSpc>
              <a:spcBef>
                <a:spcPts val="0"/>
              </a:spcBef>
              <a:spcAft>
                <a:spcPts val="0"/>
              </a:spcAft>
            </a:pPr>
            <a:r>
              <a:rPr sz="2800" b="1">
                <a:solidFill>
                  <a:srgbClr val="0B4F6C"/>
                </a:solidFill>
              </a:rPr>
              <a:t>03</a:t>
            </a:r>
          </a:p>
        </p:txBody>
      </p:sp>
      <p:sp>
        <p:nvSpPr>
          <p:cNvPr id="11" name="TextBox 10"/>
          <p:cNvSpPr txBox="1"/>
          <p:nvPr/>
        </p:nvSpPr>
        <p:spPr>
          <a:xfrm>
            <a:off x="6217920" y="1700784"/>
            <a:ext cx="2560320" cy="502920"/>
          </a:xfrm>
          <a:prstGeom prst="rect">
            <a:avLst/>
          </a:prstGeom>
          <a:noFill/>
        </p:spPr>
        <p:txBody>
          <a:bodyPr wrap="square" lIns="0" tIns="0" rIns="0" bIns="0">
            <a:spAutoFit/>
          </a:bodyPr>
          <a:lstStyle/>
          <a:p>
            <a:pPr algn="l">
              <a:lnSpc>
                <a:spcPct val="100000"/>
              </a:lnSpc>
              <a:spcBef>
                <a:spcPts val="0"/>
              </a:spcBef>
              <a:spcAft>
                <a:spcPts val="0"/>
              </a:spcAft>
            </a:pPr>
            <a:r>
              <a:rPr sz="1800" b="1">
                <a:solidFill>
                  <a:srgbClr val="0B4F6C"/>
                </a:solidFill>
              </a:rPr>
              <a:t>Agreed schedule</a:t>
            </a:r>
          </a:p>
        </p:txBody>
      </p:sp>
      <p:sp>
        <p:nvSpPr>
          <p:cNvPr id="12" name="TextBox 11"/>
          <p:cNvSpPr txBox="1"/>
          <p:nvPr/>
        </p:nvSpPr>
        <p:spPr>
          <a:xfrm>
            <a:off x="6217920" y="2331720"/>
            <a:ext cx="2514600" cy="1463040"/>
          </a:xfrm>
          <a:prstGeom prst="rect">
            <a:avLst/>
          </a:prstGeom>
          <a:noFill/>
        </p:spPr>
        <p:txBody>
          <a:bodyPr wrap="square" lIns="0" tIns="0" rIns="0" bIns="0">
            <a:spAutoFit/>
          </a:bodyPr>
          <a:lstStyle/>
          <a:p>
            <a:pPr algn="l">
              <a:lnSpc>
                <a:spcPct val="108000"/>
              </a:lnSpc>
              <a:spcBef>
                <a:spcPts val="0"/>
              </a:spcBef>
              <a:spcAft>
                <a:spcPts val="0"/>
              </a:spcAft>
            </a:pPr>
            <a:r>
              <a:rPr sz="1600" b="0">
                <a:solidFill>
                  <a:srgbClr val="000000"/>
                </a:solidFill>
              </a:rPr>
              <a:t>We confirm tasks, frequency and timing around your operations.</a:t>
            </a:r>
          </a:p>
        </p:txBody>
      </p:sp>
      <p:sp>
        <p:nvSpPr>
          <p:cNvPr id="13" name="TextBox 12"/>
          <p:cNvSpPr txBox="1"/>
          <p:nvPr/>
        </p:nvSpPr>
        <p:spPr>
          <a:xfrm>
            <a:off x="9052560" y="1078992"/>
            <a:ext cx="2560320" cy="502920"/>
          </a:xfrm>
          <a:prstGeom prst="rect">
            <a:avLst/>
          </a:prstGeom>
          <a:noFill/>
        </p:spPr>
        <p:txBody>
          <a:bodyPr wrap="square" lIns="0" tIns="0" rIns="0" bIns="0">
            <a:spAutoFit/>
          </a:bodyPr>
          <a:lstStyle/>
          <a:p>
            <a:pPr algn="l">
              <a:lnSpc>
                <a:spcPct val="100000"/>
              </a:lnSpc>
              <a:spcBef>
                <a:spcPts val="0"/>
              </a:spcBef>
              <a:spcAft>
                <a:spcPts val="0"/>
              </a:spcAft>
            </a:pPr>
            <a:r>
              <a:rPr sz="2800" b="1">
                <a:solidFill>
                  <a:srgbClr val="0B4F6C"/>
                </a:solidFill>
              </a:rPr>
              <a:t>04</a:t>
            </a:r>
          </a:p>
        </p:txBody>
      </p:sp>
      <p:sp>
        <p:nvSpPr>
          <p:cNvPr id="14" name="TextBox 13"/>
          <p:cNvSpPr txBox="1"/>
          <p:nvPr/>
        </p:nvSpPr>
        <p:spPr>
          <a:xfrm>
            <a:off x="9052560" y="1700784"/>
            <a:ext cx="2560320" cy="502920"/>
          </a:xfrm>
          <a:prstGeom prst="rect">
            <a:avLst/>
          </a:prstGeom>
          <a:noFill/>
        </p:spPr>
        <p:txBody>
          <a:bodyPr wrap="square" lIns="0" tIns="0" rIns="0" bIns="0">
            <a:spAutoFit/>
          </a:bodyPr>
          <a:lstStyle/>
          <a:p>
            <a:pPr algn="l">
              <a:lnSpc>
                <a:spcPct val="100000"/>
              </a:lnSpc>
              <a:spcBef>
                <a:spcPts val="0"/>
              </a:spcBef>
              <a:spcAft>
                <a:spcPts val="0"/>
              </a:spcAft>
            </a:pPr>
            <a:r>
              <a:rPr sz="1800" b="1">
                <a:solidFill>
                  <a:srgbClr val="0B4F6C"/>
                </a:solidFill>
              </a:rPr>
              <a:t>Quality checks</a:t>
            </a:r>
          </a:p>
        </p:txBody>
      </p:sp>
      <p:sp>
        <p:nvSpPr>
          <p:cNvPr id="15" name="TextBox 14"/>
          <p:cNvSpPr txBox="1"/>
          <p:nvPr/>
        </p:nvSpPr>
        <p:spPr>
          <a:xfrm>
            <a:off x="9052560" y="2331720"/>
            <a:ext cx="2514600" cy="1463040"/>
          </a:xfrm>
          <a:prstGeom prst="rect">
            <a:avLst/>
          </a:prstGeom>
          <a:noFill/>
        </p:spPr>
        <p:txBody>
          <a:bodyPr wrap="square" lIns="0" tIns="0" rIns="0" bIns="0">
            <a:spAutoFit/>
          </a:bodyPr>
          <a:lstStyle/>
          <a:p>
            <a:pPr algn="l">
              <a:lnSpc>
                <a:spcPct val="108000"/>
              </a:lnSpc>
              <a:spcBef>
                <a:spcPts val="0"/>
              </a:spcBef>
              <a:spcAft>
                <a:spcPts val="0"/>
              </a:spcAft>
            </a:pPr>
            <a:r>
              <a:rPr sz="1600" b="0">
                <a:solidFill>
                  <a:srgbClr val="000000"/>
                </a:solidFill>
              </a:rPr>
              <a:t>We review standards and respond to feedback throughout the service.</a:t>
            </a:r>
          </a:p>
        </p:txBody>
      </p:sp>
      <p:sp>
        <p:nvSpPr>
          <p:cNvPr id="16" name="TextBox 15"/>
          <p:cNvSpPr txBox="1"/>
          <p:nvPr/>
        </p:nvSpPr>
        <p:spPr>
          <a:xfrm>
            <a:off x="548640" y="4709160"/>
            <a:ext cx="9875520" cy="548640"/>
          </a:xfrm>
          <a:prstGeom prst="rect">
            <a:avLst/>
          </a:prstGeom>
          <a:noFill/>
        </p:spPr>
        <p:txBody>
          <a:bodyPr wrap="square" lIns="0" tIns="0" rIns="0" bIns="0">
            <a:spAutoFit/>
          </a:bodyPr>
          <a:lstStyle/>
          <a:p>
            <a:pPr algn="l">
              <a:lnSpc>
                <a:spcPct val="100000"/>
              </a:lnSpc>
              <a:spcBef>
                <a:spcPts val="0"/>
              </a:spcBef>
              <a:spcAft>
                <a:spcPts val="0"/>
              </a:spcAft>
            </a:pPr>
            <a:r>
              <a:rPr sz="1800" b="1">
                <a:solidFill>
                  <a:srgbClr val="0B4F6C"/>
                </a:solidFill>
              </a:rPr>
              <a:t>Clear scope. Agreed timing. Consistent service.</a:t>
            </a:r>
          </a:p>
        </p:txBody>
      </p:sp>
      <p:pic>
        <p:nvPicPr>
          <p:cNvPr id="17" name="Clean Sweep Oasis logo" descr="image.png"/>
          <p:cNvPicPr>
            <a:picLocks noChangeAspect="1"/>
          </p:cNvPicPr>
          <p:nvPr/>
        </p:nvPicPr>
        <p:blipFill>
          <a:blip r:embed="rId2"/>
          <a:stretch>
            <a:fillRect/>
          </a:stretch>
        </p:blipFill>
        <p:spPr>
          <a:xfrm>
            <a:off x="10655808" y="5994000"/>
            <a:ext cx="1280160" cy="60796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B4F6C"/>
          </a:solidFill>
          <a:ln w="12700">
            <a:solidFill>
              <a:srgbClr val="0B4F6C"/>
            </a:solidFill>
            <a:prstDash val="solid"/>
          </a:ln>
        </p:spPr>
        <p:txBody>
          <a:bodyPr/>
          <a:lstStyle/>
          <a:p>
            <a:endParaRPr lang="en-GB"/>
          </a:p>
        </p:txBody>
      </p:sp>
      <p:sp>
        <p:nvSpPr>
          <p:cNvPr id="3" name="Text 1"/>
          <p:cNvSpPr/>
          <p:nvPr/>
        </p:nvSpPr>
        <p:spPr>
          <a:xfrm>
            <a:off x="365760" y="109728"/>
            <a:ext cx="7315200" cy="274320"/>
          </a:xfrm>
          <a:prstGeom prst="rect">
            <a:avLst/>
          </a:prstGeom>
          <a:noFill/>
          <a:ln/>
        </p:spPr>
        <p:txBody>
          <a:bodyPr wrap="square" rtlCol="0" anchor="ctr"/>
          <a:lstStyle/>
          <a:p>
            <a:pPr marL="0" indent="0">
              <a:buNone/>
            </a:pPr>
            <a:r>
              <a:rPr lang="en-US" sz="2400" b="1" dirty="0">
                <a:solidFill>
                  <a:srgbClr val="FFFFFF"/>
                </a:solidFill>
              </a:rPr>
              <a:t>Why Choose Us</a:t>
            </a:r>
            <a:endParaRPr lang="en-US" sz="2400" dirty="0"/>
          </a:p>
        </p:txBody>
      </p:sp>
      <p:sp>
        <p:nvSpPr>
          <p:cNvPr id="4" name="Text 2"/>
          <p:cNvSpPr/>
          <p:nvPr/>
        </p:nvSpPr>
        <p:spPr>
          <a:xfrm>
            <a:off x="731520" y="1097280"/>
            <a:ext cx="7315200" cy="2743200"/>
          </a:xfrm>
          <a:prstGeom prst="rect">
            <a:avLst/>
          </a:prstGeom>
          <a:noFill/>
          <a:ln/>
        </p:spPr>
        <p:txBody>
          <a:bodyPr wrap="square" rtlCol="0" anchor="ctr"/>
          <a:lstStyle/>
          <a:p>
            <a:pPr marL="0" indent="0">
              <a:buNone/>
            </a:pPr>
            <a:r>
              <a:rPr lang="en-US" sz="2000" dirty="0">
                <a:solidFill>
                  <a:srgbClr val="000000"/>
                </a:solidFill>
              </a:rPr>
              <a:t>✓ Family-run business</a:t>
            </a:r>
            <a:endParaRPr lang="en-US" sz="2000" dirty="0"/>
          </a:p>
          <a:p>
            <a:pPr marL="0" indent="0">
              <a:buNone/>
            </a:pPr>
            <a:r>
              <a:rPr lang="en-US" sz="2000" dirty="0">
                <a:solidFill>
                  <a:srgbClr val="000000"/>
                </a:solidFill>
              </a:rPr>
              <a:t>✓ Reliable and trustworthy</a:t>
            </a:r>
            <a:endParaRPr lang="en-US" sz="2000" dirty="0"/>
          </a:p>
          <a:p>
            <a:pPr marL="0" indent="0">
              <a:buNone/>
            </a:pPr>
            <a:r>
              <a:rPr lang="en-US" sz="2000" dirty="0">
                <a:solidFill>
                  <a:srgbClr val="000000"/>
                </a:solidFill>
              </a:rPr>
              <a:t>✓ Flexible service options</a:t>
            </a:r>
            <a:endParaRPr lang="en-US" sz="2000" dirty="0"/>
          </a:p>
          <a:p>
            <a:pPr marL="0" indent="0">
              <a:buNone/>
            </a:pPr>
            <a:r>
              <a:rPr lang="en-US" sz="2000" dirty="0">
                <a:solidFill>
                  <a:srgbClr val="000000"/>
                </a:solidFill>
              </a:rPr>
              <a:t>✓ Affordable pricing</a:t>
            </a:r>
            <a:endParaRPr lang="en-US" sz="2000" dirty="0"/>
          </a:p>
          <a:p>
            <a:pPr marL="0" indent="0">
              <a:buNone/>
            </a:pPr>
            <a:r>
              <a:rPr lang="en-US" sz="2000" dirty="0">
                <a:solidFill>
                  <a:srgbClr val="000000"/>
                </a:solidFill>
              </a:rPr>
              <a:t>✓ Bespoke quotations</a:t>
            </a:r>
            <a:endParaRPr lang="en-US" sz="2000" dirty="0"/>
          </a:p>
          <a:p>
            <a:pPr marL="0" indent="0">
              <a:buNone/>
            </a:pPr>
            <a:r>
              <a:rPr lang="en-US" sz="2000" dirty="0">
                <a:solidFill>
                  <a:srgbClr val="000000"/>
                </a:solidFill>
              </a:rPr>
              <a:t>✓ Excellent customer feedback</a:t>
            </a:r>
            <a:endParaRPr lang="en-US" sz="2000" dirty="0"/>
          </a:p>
        </p:txBody>
      </p:sp>
      <p:pic>
        <p:nvPicPr>
          <p:cNvPr id="5" name="Clean Sweep Oasis logo" descr="image.png"/>
          <p:cNvPicPr>
            <a:picLocks noChangeAspect="1"/>
          </p:cNvPicPr>
          <p:nvPr/>
        </p:nvPicPr>
        <p:blipFill>
          <a:blip r:embed="rId3"/>
          <a:stretch>
            <a:fillRect/>
          </a:stretch>
        </p:blipFill>
        <p:spPr>
          <a:xfrm>
            <a:off x="10655808" y="5994000"/>
            <a:ext cx="1280160" cy="60796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B4F6C"/>
          </a:solidFill>
          <a:ln w="12700">
            <a:solidFill>
              <a:srgbClr val="0B4F6C"/>
            </a:solidFill>
            <a:prstDash val="solid"/>
          </a:ln>
        </p:spPr>
        <p:txBody>
          <a:bodyPr/>
          <a:lstStyle/>
          <a:p>
            <a:endParaRPr lang="en-GB"/>
          </a:p>
        </p:txBody>
      </p:sp>
      <p:sp>
        <p:nvSpPr>
          <p:cNvPr id="3" name="Text 1"/>
          <p:cNvSpPr/>
          <p:nvPr/>
        </p:nvSpPr>
        <p:spPr>
          <a:xfrm>
            <a:off x="365760" y="109728"/>
            <a:ext cx="7315200" cy="274320"/>
          </a:xfrm>
          <a:prstGeom prst="rect">
            <a:avLst/>
          </a:prstGeom>
          <a:noFill/>
          <a:ln/>
        </p:spPr>
        <p:txBody>
          <a:bodyPr wrap="square" rtlCol="0" anchor="ctr"/>
          <a:lstStyle/>
          <a:p>
            <a:pPr marL="0" indent="0">
              <a:buNone/>
            </a:pPr>
            <a:r>
              <a:rPr lang="en-US" sz="2400" b="1" dirty="0">
                <a:solidFill>
                  <a:srgbClr val="FFFFFF"/>
                </a:solidFill>
              </a:rPr>
              <a:t>Pricing &amp; Quotation Guide</a:t>
            </a:r>
            <a:endParaRPr lang="en-US" sz="2400" dirty="0"/>
          </a:p>
        </p:txBody>
      </p:sp>
      <p:sp>
        <p:nvSpPr>
          <p:cNvPr id="4" name="Text 2"/>
          <p:cNvSpPr/>
          <p:nvPr/>
        </p:nvSpPr>
        <p:spPr>
          <a:xfrm>
            <a:off x="457200" y="914400"/>
            <a:ext cx="2743200" cy="365760"/>
          </a:xfrm>
          <a:prstGeom prst="rect">
            <a:avLst/>
          </a:prstGeom>
          <a:noFill/>
          <a:ln/>
        </p:spPr>
        <p:txBody>
          <a:bodyPr wrap="square" rtlCol="0" anchor="ctr"/>
          <a:lstStyle/>
          <a:p>
            <a:pPr marL="0" indent="0">
              <a:buNone/>
            </a:pPr>
            <a:r>
              <a:rPr lang="en-US" sz="2000" b="1" dirty="0">
                <a:solidFill>
                  <a:srgbClr val="0B4F6C"/>
                </a:solidFill>
              </a:rPr>
              <a:t>Commercial Cleaning</a:t>
            </a:r>
            <a:endParaRPr lang="en-US" sz="2000" dirty="0"/>
          </a:p>
        </p:txBody>
      </p:sp>
      <p:sp>
        <p:nvSpPr>
          <p:cNvPr id="5" name="Text 3"/>
          <p:cNvSpPr/>
          <p:nvPr/>
        </p:nvSpPr>
        <p:spPr>
          <a:xfrm>
            <a:off x="457200" y="1371600"/>
            <a:ext cx="2926080" cy="914400"/>
          </a:xfrm>
          <a:prstGeom prst="rect">
            <a:avLst/>
          </a:prstGeom>
          <a:noFill/>
          <a:ln/>
        </p:spPr>
        <p:txBody>
          <a:bodyPr wrap="square" rtlCol="0" anchor="ctr"/>
          <a:lstStyle/>
          <a:p>
            <a:pPr marL="0" indent="0">
              <a:buNone/>
            </a:pPr>
            <a:r>
              <a:rPr lang="en-US" dirty="0">
                <a:solidFill>
                  <a:srgbClr val="000000"/>
                </a:solidFill>
              </a:rPr>
              <a:t>From £25 per hour</a:t>
            </a:r>
            <a:endParaRPr lang="en-US" dirty="0"/>
          </a:p>
          <a:p>
            <a:pPr marL="0" indent="0">
              <a:buNone/>
            </a:pPr>
            <a:r>
              <a:rPr lang="en-US" dirty="0">
                <a:solidFill>
                  <a:srgbClr val="000000"/>
                </a:solidFill>
              </a:rPr>
              <a:t>Suitable for offices and commercial premises.</a:t>
            </a:r>
            <a:endParaRPr lang="en-US" dirty="0"/>
          </a:p>
        </p:txBody>
      </p:sp>
      <p:sp>
        <p:nvSpPr>
          <p:cNvPr id="6" name="Text 4"/>
          <p:cNvSpPr/>
          <p:nvPr/>
        </p:nvSpPr>
        <p:spPr>
          <a:xfrm>
            <a:off x="4114800" y="914400"/>
            <a:ext cx="3200400" cy="365760"/>
          </a:xfrm>
          <a:prstGeom prst="rect">
            <a:avLst/>
          </a:prstGeom>
          <a:noFill/>
          <a:ln/>
        </p:spPr>
        <p:txBody>
          <a:bodyPr wrap="square" rtlCol="0" anchor="ctr"/>
          <a:lstStyle/>
          <a:p>
            <a:pPr marL="0" indent="0">
              <a:buNone/>
            </a:pPr>
            <a:r>
              <a:rPr lang="en-US" sz="2000" b="1" dirty="0">
                <a:solidFill>
                  <a:srgbClr val="0B4F6C"/>
                </a:solidFill>
              </a:rPr>
              <a:t>End of Tenancy Cleaning</a:t>
            </a:r>
            <a:endParaRPr lang="en-US" sz="2000" dirty="0"/>
          </a:p>
        </p:txBody>
      </p:sp>
      <p:sp>
        <p:nvSpPr>
          <p:cNvPr id="7" name="Text 5"/>
          <p:cNvSpPr/>
          <p:nvPr/>
        </p:nvSpPr>
        <p:spPr>
          <a:xfrm>
            <a:off x="4114800" y="1371600"/>
            <a:ext cx="3200400" cy="914400"/>
          </a:xfrm>
          <a:prstGeom prst="rect">
            <a:avLst/>
          </a:prstGeom>
          <a:noFill/>
          <a:ln/>
        </p:spPr>
        <p:txBody>
          <a:bodyPr wrap="square" rtlCol="0" anchor="ctr"/>
          <a:lstStyle/>
          <a:p>
            <a:pPr marL="0" indent="0">
              <a:buNone/>
            </a:pPr>
            <a:r>
              <a:rPr lang="en-US" dirty="0">
                <a:solidFill>
                  <a:srgbClr val="000000"/>
                </a:solidFill>
              </a:rPr>
              <a:t>From £150</a:t>
            </a:r>
            <a:endParaRPr lang="en-US" dirty="0"/>
          </a:p>
          <a:p>
            <a:pPr marL="0" indent="0">
              <a:buNone/>
            </a:pPr>
            <a:r>
              <a:rPr lang="en-US" dirty="0">
                <a:solidFill>
                  <a:srgbClr val="000000"/>
                </a:solidFill>
              </a:rPr>
              <a:t>Price depends on property size and requirements.</a:t>
            </a:r>
            <a:endParaRPr lang="en-US" dirty="0"/>
          </a:p>
        </p:txBody>
      </p:sp>
      <p:sp>
        <p:nvSpPr>
          <p:cNvPr id="8" name="Text 6"/>
          <p:cNvSpPr/>
          <p:nvPr/>
        </p:nvSpPr>
        <p:spPr>
          <a:xfrm>
            <a:off x="7955280" y="914400"/>
            <a:ext cx="2743200" cy="365760"/>
          </a:xfrm>
          <a:prstGeom prst="rect">
            <a:avLst/>
          </a:prstGeom>
          <a:noFill/>
          <a:ln/>
        </p:spPr>
        <p:txBody>
          <a:bodyPr wrap="square" rtlCol="0" anchor="ctr"/>
          <a:lstStyle/>
          <a:p>
            <a:pPr marL="0" indent="0">
              <a:buNone/>
            </a:pPr>
            <a:r>
              <a:rPr lang="en-US" sz="2000" b="1" dirty="0">
                <a:solidFill>
                  <a:srgbClr val="0B4F6C"/>
                </a:solidFill>
              </a:rPr>
              <a:t>Gardening &amp; Odd Jobs</a:t>
            </a:r>
            <a:endParaRPr lang="en-US" sz="2000" dirty="0"/>
          </a:p>
        </p:txBody>
      </p:sp>
      <p:sp>
        <p:nvSpPr>
          <p:cNvPr id="9" name="Text 7"/>
          <p:cNvSpPr/>
          <p:nvPr/>
        </p:nvSpPr>
        <p:spPr>
          <a:xfrm>
            <a:off x="7955280" y="1371600"/>
            <a:ext cx="2743200" cy="914400"/>
          </a:xfrm>
          <a:prstGeom prst="rect">
            <a:avLst/>
          </a:prstGeom>
          <a:noFill/>
          <a:ln/>
        </p:spPr>
        <p:txBody>
          <a:bodyPr wrap="square" rtlCol="0" anchor="ctr"/>
          <a:lstStyle/>
          <a:p>
            <a:pPr marL="0" indent="0">
              <a:buNone/>
            </a:pPr>
            <a:r>
              <a:rPr lang="en-US" dirty="0">
                <a:solidFill>
                  <a:srgbClr val="000000"/>
                </a:solidFill>
              </a:rPr>
              <a:t>Quoted separately</a:t>
            </a:r>
            <a:endParaRPr lang="en-US" dirty="0"/>
          </a:p>
          <a:p>
            <a:pPr marL="0" indent="0">
              <a:buNone/>
            </a:pPr>
            <a:r>
              <a:rPr lang="en-US" dirty="0">
                <a:solidFill>
                  <a:srgbClr val="000000"/>
                </a:solidFill>
              </a:rPr>
              <a:t>Tailored to each project.</a:t>
            </a:r>
            <a:endParaRPr lang="en-US" dirty="0"/>
          </a:p>
        </p:txBody>
      </p:sp>
      <p:sp>
        <p:nvSpPr>
          <p:cNvPr id="10" name="Text 8"/>
          <p:cNvSpPr/>
          <p:nvPr/>
        </p:nvSpPr>
        <p:spPr>
          <a:xfrm>
            <a:off x="457200" y="4114800"/>
            <a:ext cx="5486400" cy="365760"/>
          </a:xfrm>
          <a:prstGeom prst="rect">
            <a:avLst/>
          </a:prstGeom>
          <a:noFill/>
          <a:ln/>
        </p:spPr>
        <p:txBody>
          <a:bodyPr wrap="square" rtlCol="0" anchor="ctr"/>
          <a:lstStyle/>
          <a:p>
            <a:pPr marL="0" indent="0">
              <a:buNone/>
            </a:pPr>
            <a:r>
              <a:rPr lang="en-US" sz="2000" b="1" dirty="0">
                <a:solidFill>
                  <a:srgbClr val="000000"/>
                </a:solidFill>
              </a:rPr>
              <a:t>Free no-obligation quotations available.</a:t>
            </a:r>
            <a:endParaRPr lang="en-US" sz="2000" dirty="0"/>
          </a:p>
        </p:txBody>
      </p:sp>
      <p:pic>
        <p:nvPicPr>
          <p:cNvPr id="11" name="Clean Sweep Oasis logo" descr="image.png"/>
          <p:cNvPicPr>
            <a:picLocks noChangeAspect="1"/>
          </p:cNvPicPr>
          <p:nvPr/>
        </p:nvPicPr>
        <p:blipFill>
          <a:blip r:embed="rId3"/>
          <a:stretch>
            <a:fillRect/>
          </a:stretch>
        </p:blipFill>
        <p:spPr>
          <a:xfrm>
            <a:off x="10655808" y="5994000"/>
            <a:ext cx="1280160" cy="60796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B4F6C"/>
          </a:solidFill>
          <a:ln w="12700">
            <a:solidFill>
              <a:srgbClr val="0B4F6C"/>
            </a:solidFill>
            <a:prstDash val="solid"/>
          </a:ln>
        </p:spPr>
        <p:txBody>
          <a:bodyPr/>
          <a:lstStyle/>
          <a:p>
            <a:endParaRPr lang="en-GB"/>
          </a:p>
        </p:txBody>
      </p:sp>
      <p:sp>
        <p:nvSpPr>
          <p:cNvPr id="3" name="Text 1"/>
          <p:cNvSpPr/>
          <p:nvPr/>
        </p:nvSpPr>
        <p:spPr>
          <a:xfrm>
            <a:off x="365760" y="109728"/>
            <a:ext cx="7315200" cy="274320"/>
          </a:xfrm>
          <a:prstGeom prst="rect">
            <a:avLst/>
          </a:prstGeom>
          <a:noFill/>
          <a:ln/>
        </p:spPr>
        <p:txBody>
          <a:bodyPr wrap="square" rtlCol="0" anchor="ctr"/>
          <a:lstStyle/>
          <a:p>
            <a:pPr marL="0" indent="0">
              <a:buNone/>
            </a:pPr>
            <a:r>
              <a:rPr lang="en-US" sz="2400" b="1" dirty="0">
                <a:solidFill>
                  <a:srgbClr val="FFFFFF"/>
                </a:solidFill>
              </a:rPr>
              <a:t>Client Testimonials</a:t>
            </a:r>
            <a:endParaRPr lang="en-US" sz="2400" dirty="0"/>
          </a:p>
        </p:txBody>
      </p:sp>
      <p:sp>
        <p:nvSpPr>
          <p:cNvPr id="4" name="Text 2"/>
          <p:cNvSpPr/>
          <p:nvPr/>
        </p:nvSpPr>
        <p:spPr>
          <a:xfrm>
            <a:off x="457200" y="822960"/>
            <a:ext cx="5303520" cy="1371600"/>
          </a:xfrm>
          <a:prstGeom prst="rect">
            <a:avLst/>
          </a:prstGeom>
          <a:noFill/>
          <a:ln/>
        </p:spPr>
        <p:txBody>
          <a:bodyPr wrap="square" rtlCol="0" anchor="ctr"/>
          <a:lstStyle/>
          <a:p>
            <a:pPr marL="0" indent="0">
              <a:buNone/>
            </a:pPr>
            <a:r>
              <a:rPr lang="en-US" sz="1600" dirty="0">
                <a:solidFill>
                  <a:srgbClr val="000000"/>
                </a:solidFill>
              </a:rPr>
              <a:t>★★★★★ Laura</a:t>
            </a:r>
            <a:endParaRPr lang="en-US" sz="1600" dirty="0"/>
          </a:p>
          <a:p>
            <a:pPr marL="0" indent="0">
              <a:buNone/>
            </a:pPr>
            <a:r>
              <a:rPr lang="en-US" sz="1600" dirty="0">
                <a:solidFill>
                  <a:srgbClr val="000000"/>
                </a:solidFill>
              </a:rPr>
              <a:t>"Excellent, friendly, professional and efficient service. Brilliant standards and outstanding service."</a:t>
            </a:r>
            <a:endParaRPr lang="en-US" sz="1600" dirty="0"/>
          </a:p>
        </p:txBody>
      </p:sp>
      <p:sp>
        <p:nvSpPr>
          <p:cNvPr id="5" name="Text 3"/>
          <p:cNvSpPr/>
          <p:nvPr/>
        </p:nvSpPr>
        <p:spPr>
          <a:xfrm>
            <a:off x="6126480" y="822960"/>
            <a:ext cx="5303520" cy="1371600"/>
          </a:xfrm>
          <a:prstGeom prst="rect">
            <a:avLst/>
          </a:prstGeom>
          <a:noFill/>
          <a:ln/>
        </p:spPr>
        <p:txBody>
          <a:bodyPr wrap="square" rtlCol="0" anchor="ctr"/>
          <a:lstStyle/>
          <a:p>
            <a:pPr marL="0" indent="0">
              <a:buNone/>
            </a:pPr>
            <a:r>
              <a:rPr lang="en-US" sz="1600" dirty="0">
                <a:solidFill>
                  <a:srgbClr val="000000"/>
                </a:solidFill>
              </a:rPr>
              <a:t>★★★★★ Tulika</a:t>
            </a:r>
            <a:endParaRPr lang="en-US" sz="1600" dirty="0"/>
          </a:p>
          <a:p>
            <a:pPr marL="0" indent="0">
              <a:buNone/>
            </a:pPr>
            <a:r>
              <a:rPr lang="en-US" sz="1600" dirty="0">
                <a:solidFill>
                  <a:srgbClr val="000000"/>
                </a:solidFill>
              </a:rPr>
              <a:t>"Excellent gardening, window and bathroom cleaning. Friendly and brilliant at the job."</a:t>
            </a:r>
            <a:endParaRPr lang="en-US" sz="1600" dirty="0"/>
          </a:p>
        </p:txBody>
      </p:sp>
      <p:sp>
        <p:nvSpPr>
          <p:cNvPr id="6" name="Text 4"/>
          <p:cNvSpPr/>
          <p:nvPr/>
        </p:nvSpPr>
        <p:spPr>
          <a:xfrm>
            <a:off x="457200" y="2468880"/>
            <a:ext cx="5303520" cy="1371600"/>
          </a:xfrm>
          <a:prstGeom prst="rect">
            <a:avLst/>
          </a:prstGeom>
          <a:noFill/>
          <a:ln/>
        </p:spPr>
        <p:txBody>
          <a:bodyPr wrap="square" rtlCol="0" anchor="ctr"/>
          <a:lstStyle/>
          <a:p>
            <a:pPr marL="0" indent="0">
              <a:buNone/>
            </a:pPr>
            <a:r>
              <a:rPr lang="en-US" sz="1600" dirty="0">
                <a:solidFill>
                  <a:srgbClr val="000000"/>
                </a:solidFill>
              </a:rPr>
              <a:t>★★★★★ Alyssa</a:t>
            </a:r>
            <a:endParaRPr lang="en-US" sz="1600" dirty="0"/>
          </a:p>
          <a:p>
            <a:pPr marL="0" indent="0">
              <a:buNone/>
            </a:pPr>
            <a:r>
              <a:rPr lang="en-US" sz="1600" dirty="0">
                <a:solidFill>
                  <a:srgbClr val="000000"/>
                </a:solidFill>
              </a:rPr>
              <a:t>"Very helpful, reasonably priced and a great family service for end of tenancy cleaning."</a:t>
            </a:r>
            <a:endParaRPr lang="en-US" sz="1600" dirty="0"/>
          </a:p>
        </p:txBody>
      </p:sp>
      <p:sp>
        <p:nvSpPr>
          <p:cNvPr id="7" name="Text 5"/>
          <p:cNvSpPr/>
          <p:nvPr/>
        </p:nvSpPr>
        <p:spPr>
          <a:xfrm>
            <a:off x="6094476" y="2468880"/>
            <a:ext cx="5303520" cy="1371600"/>
          </a:xfrm>
          <a:prstGeom prst="rect">
            <a:avLst/>
          </a:prstGeom>
          <a:noFill/>
          <a:ln/>
        </p:spPr>
        <p:txBody>
          <a:bodyPr wrap="square" rtlCol="0" anchor="ctr"/>
          <a:lstStyle/>
          <a:p>
            <a:pPr marL="0" indent="0">
              <a:buNone/>
            </a:pPr>
            <a:r>
              <a:rPr lang="en-US" sz="1600" dirty="0">
                <a:solidFill>
                  <a:srgbClr val="000000"/>
                </a:solidFill>
              </a:rPr>
              <a:t>★★★★★ Aaron</a:t>
            </a:r>
            <a:endParaRPr lang="en-US" sz="1600" dirty="0"/>
          </a:p>
          <a:p>
            <a:pPr marL="0" indent="0">
              <a:buNone/>
            </a:pPr>
            <a:r>
              <a:rPr lang="en-US" sz="1600" dirty="0">
                <a:solidFill>
                  <a:srgbClr val="000000"/>
                </a:solidFill>
              </a:rPr>
              <a:t>"Apartment was left even better than when I moved in. Highly recommend."</a:t>
            </a:r>
            <a:endParaRPr lang="en-US" sz="1600" dirty="0"/>
          </a:p>
        </p:txBody>
      </p:sp>
      <p:pic>
        <p:nvPicPr>
          <p:cNvPr id="8" name="Clean Sweep Oasis logo" descr="image.png"/>
          <p:cNvPicPr>
            <a:picLocks noChangeAspect="1"/>
          </p:cNvPicPr>
          <p:nvPr/>
        </p:nvPicPr>
        <p:blipFill>
          <a:blip r:embed="rId3"/>
          <a:stretch>
            <a:fillRect/>
          </a:stretch>
        </p:blipFill>
        <p:spPr>
          <a:xfrm>
            <a:off x="10655808" y="5994000"/>
            <a:ext cx="1280160" cy="607968"/>
          </a:xfrm>
          <a:prstGeom prst="rect">
            <a:avLst/>
          </a:prstGeom>
        </p:spPr>
      </p:pic>
      <p:sp>
        <p:nvSpPr>
          <p:cNvPr id="12" name="Text 5">
            <a:extLst>
              <a:ext uri="{FF2B5EF4-FFF2-40B4-BE49-F238E27FC236}">
                <a16:creationId xmlns:a16="http://schemas.microsoft.com/office/drawing/2014/main" id="{AD523FD2-CE0C-C8C4-EDD8-D825DE7F89E7}"/>
              </a:ext>
            </a:extLst>
          </p:cNvPr>
          <p:cNvSpPr/>
          <p:nvPr/>
        </p:nvSpPr>
        <p:spPr>
          <a:xfrm>
            <a:off x="522514" y="4350880"/>
            <a:ext cx="11413454" cy="1371600"/>
          </a:xfrm>
          <a:prstGeom prst="rect">
            <a:avLst/>
          </a:prstGeom>
          <a:noFill/>
          <a:ln/>
        </p:spPr>
        <p:txBody>
          <a:bodyPr wrap="square" rtlCol="0" anchor="ctr"/>
          <a:lstStyle/>
          <a:p>
            <a:pPr marL="0" indent="0">
              <a:buNone/>
            </a:pPr>
            <a:r>
              <a:rPr lang="en-US" sz="1600" dirty="0">
                <a:solidFill>
                  <a:srgbClr val="000000"/>
                </a:solidFill>
              </a:rPr>
              <a:t>★★★★★ Alison</a:t>
            </a:r>
            <a:endParaRPr lang="en-US" sz="1600" dirty="0"/>
          </a:p>
          <a:p>
            <a:pPr marL="0" indent="0">
              <a:buNone/>
            </a:pPr>
            <a:r>
              <a:rPr lang="en-US" sz="1600" dirty="0">
                <a:solidFill>
                  <a:srgbClr val="000000"/>
                </a:solidFill>
              </a:rPr>
              <a:t>“2 </a:t>
            </a:r>
            <a:r>
              <a:rPr lang="en-GB" sz="1600" dirty="0">
                <a:solidFill>
                  <a:srgbClr val="000000"/>
                </a:solidFill>
              </a:rPr>
              <a:t>months ago, I have had the pleasure of working with this fantastic cleaning company for the last three years, and I honestly couldn't recommend them more highly. Nothing has ever been too much trouble, and the standard of their work has consistently been five-star. They are reliable, trustworthy, loyal, and always deliver an exceptional service. Whenever I've needed assistance or had a last-minute request, they've always been at the end of the phone, happy to help. They have also been incredibly flexible and understanding, especially as our cleaning schedules have often changed to meet the needs of the college. They have always adapted without complaint and have gone above and beyond to ensure everything ran smoothly. If you're looking for a professional, dependable cleaning company that genuinely cares about its clients, I would recommend them every single time. Thank you for three years of outstanding service...’</a:t>
            </a:r>
            <a:endParaRPr lang="en-US" sz="1600" dirty="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457200"/>
          </a:xfrm>
          <a:prstGeom prst="rect">
            <a:avLst/>
          </a:prstGeom>
          <a:solidFill>
            <a:srgbClr val="0B4F6C"/>
          </a:solidFill>
          <a:ln w="12700">
            <a:solidFill>
              <a:srgbClr val="0B4F6C"/>
            </a:solidFill>
            <a:prstDash val="solid"/>
          </a:ln>
        </p:spPr>
        <p:txBody>
          <a:bodyPr/>
          <a:lstStyle/>
          <a:p>
            <a:endParaRPr lang="en-GB"/>
          </a:p>
        </p:txBody>
      </p:sp>
      <p:sp>
        <p:nvSpPr>
          <p:cNvPr id="3" name="Text 1"/>
          <p:cNvSpPr/>
          <p:nvPr/>
        </p:nvSpPr>
        <p:spPr>
          <a:xfrm>
            <a:off x="365760" y="109728"/>
            <a:ext cx="7315200" cy="274320"/>
          </a:xfrm>
          <a:prstGeom prst="rect">
            <a:avLst/>
          </a:prstGeom>
          <a:noFill/>
          <a:ln/>
        </p:spPr>
        <p:txBody>
          <a:bodyPr wrap="square" rtlCol="0" anchor="ctr"/>
          <a:lstStyle/>
          <a:p>
            <a:pPr marL="0" indent="0">
              <a:buNone/>
            </a:pPr>
            <a:r>
              <a:rPr lang="en-US" sz="2400" b="1" dirty="0">
                <a:solidFill>
                  <a:srgbClr val="FFFFFF"/>
                </a:solidFill>
              </a:rPr>
              <a:t>Our Commitment</a:t>
            </a:r>
            <a:endParaRPr lang="en-US" sz="2400" dirty="0"/>
          </a:p>
        </p:txBody>
      </p:sp>
      <p:sp>
        <p:nvSpPr>
          <p:cNvPr id="4" name="Text 2"/>
          <p:cNvSpPr/>
          <p:nvPr/>
        </p:nvSpPr>
        <p:spPr>
          <a:xfrm>
            <a:off x="640080" y="1371600"/>
            <a:ext cx="10058400" cy="914400"/>
          </a:xfrm>
          <a:prstGeom prst="rect">
            <a:avLst/>
          </a:prstGeom>
          <a:noFill/>
          <a:ln/>
        </p:spPr>
        <p:txBody>
          <a:bodyPr wrap="square" rtlCol="0" anchor="ctr"/>
          <a:lstStyle/>
          <a:p>
            <a:pPr marL="0" indent="0" algn="ctr">
              <a:buNone/>
            </a:pPr>
            <a:r>
              <a:rPr lang="en-US" sz="2200" dirty="0">
                <a:solidFill>
                  <a:srgbClr val="000000"/>
                </a:solidFill>
              </a:rPr>
              <a:t>We are committed to delivering dependable cleaning services with attention to detail, professionalism and customer satisfaction in every job we undertake.</a:t>
            </a:r>
            <a:endParaRPr lang="en-US" sz="2200" dirty="0"/>
          </a:p>
        </p:txBody>
      </p:sp>
      <p:pic>
        <p:nvPicPr>
          <p:cNvPr id="5" name="Clean Sweep Oasis logo" descr="image.png"/>
          <p:cNvPicPr>
            <a:picLocks noChangeAspect="1"/>
          </p:cNvPicPr>
          <p:nvPr/>
        </p:nvPicPr>
        <p:blipFill>
          <a:blip r:embed="rId3"/>
          <a:stretch>
            <a:fillRect/>
          </a:stretch>
        </p:blipFill>
        <p:spPr>
          <a:xfrm>
            <a:off x="10655808" y="5994000"/>
            <a:ext cx="1280160" cy="60796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4F6C"/>
        </a:solidFill>
        <a:effectLst/>
      </p:bgPr>
    </p:bg>
    <p:spTree>
      <p:nvGrpSpPr>
        <p:cNvPr id="1" name=""/>
        <p:cNvGrpSpPr/>
        <p:nvPr/>
      </p:nvGrpSpPr>
      <p:grpSpPr>
        <a:xfrm>
          <a:off x="0" y="0"/>
          <a:ext cx="0" cy="0"/>
          <a:chOff x="0" y="0"/>
          <a:chExt cx="0" cy="0"/>
        </a:xfrm>
      </p:grpSpPr>
      <p:sp>
        <p:nvSpPr>
          <p:cNvPr id="2" name="Text 0"/>
          <p:cNvSpPr/>
          <p:nvPr/>
        </p:nvSpPr>
        <p:spPr>
          <a:xfrm>
            <a:off x="640080" y="1005840"/>
            <a:ext cx="6766560" cy="731520"/>
          </a:xfrm>
          <a:prstGeom prst="rect">
            <a:avLst/>
          </a:prstGeom>
          <a:noFill/>
          <a:ln/>
        </p:spPr>
        <p:txBody>
          <a:bodyPr wrap="square" rtlCol="0" anchor="ctr"/>
          <a:lstStyle/>
          <a:p>
            <a:pPr marL="0" indent="0">
              <a:buNone/>
            </a:pPr>
            <a:r>
              <a:rPr lang="en-GB" sz="3000" b="1">
                <a:solidFill>
                  <a:srgbClr val="FFFFFF"/>
                </a:solidFill>
              </a:rPr>
              <a:t>Request Your Free Quotation</a:t>
            </a:r>
            <a:endParaRPr lang="en-US" sz="3000" dirty="0"/>
          </a:p>
        </p:txBody>
      </p:sp>
      <p:sp>
        <p:nvSpPr>
          <p:cNvPr id="3" name="Text 1"/>
          <p:cNvSpPr/>
          <p:nvPr/>
        </p:nvSpPr>
        <p:spPr>
          <a:xfrm>
            <a:off x="640080" y="1874519"/>
            <a:ext cx="8778240" cy="3429000"/>
          </a:xfrm>
          <a:prstGeom prst="rect">
            <a:avLst/>
          </a:prstGeom>
          <a:noFill/>
          <a:ln/>
        </p:spPr>
        <p:txBody>
          <a:bodyPr wrap="square" rtlCol="0" anchor="ctr"/>
          <a:lstStyle/>
          <a:p>
            <a:pPr marL="0" indent="0">
              <a:spcAft>
                <a:spcPts val="900"/>
              </a:spcAft>
              <a:buNone/>
            </a:pPr>
            <a:r>
              <a:rPr lang="en-GB" sz="1800" b="1" dirty="0">
                <a:solidFill>
                  <a:srgbClr val="FFFFFF"/>
                </a:solidFill>
              </a:rPr>
              <a:t>Start with a free, no-obligation quotation.</a:t>
            </a:r>
            <a:endParaRPr lang="en-GB" sz="1800" dirty="0"/>
          </a:p>
          <a:p>
            <a:pPr>
              <a:spcAft>
                <a:spcPts val="1200"/>
              </a:spcAft>
            </a:pPr>
            <a:r>
              <a:rPr lang="en-GB" sz="1800" b="1" dirty="0">
                <a:solidFill>
                  <a:srgbClr val="FFFFFF"/>
                </a:solidFill>
              </a:rPr>
              <a:t>Email</a:t>
            </a:r>
            <a:r>
              <a:rPr lang="en-GB" sz="1800" b="1">
                <a:solidFill>
                  <a:srgbClr val="FFFFFF"/>
                </a:solidFill>
              </a:rPr>
              <a:t>: </a:t>
            </a:r>
            <a:r>
              <a:rPr lang="en-GB" sz="1800" b="1">
                <a:solidFill>
                  <a:schemeClr val="bg1"/>
                </a:solidFill>
                <a:hlinkClick r:id="rId3">
                  <a:extLst>
                    <a:ext uri="{A12FA001-AC4F-418D-AE19-62706E023703}">
                      <ahyp:hlinkClr xmlns:ahyp="http://schemas.microsoft.com/office/drawing/2018/hyperlinkcolor" val="tx"/>
                    </a:ext>
                  </a:extLst>
                </a:hlinkClick>
              </a:rPr>
              <a:t>cleansweep89@</a:t>
            </a:r>
            <a:r>
              <a:rPr lang="en-GB" sz="1800" b="1" dirty="0">
                <a:solidFill>
                  <a:schemeClr val="bg1"/>
                </a:solidFill>
                <a:hlinkClick r:id="rId3">
                  <a:extLst>
                    <a:ext uri="{A12FA001-AC4F-418D-AE19-62706E023703}">
                      <ahyp:hlinkClr xmlns:ahyp="http://schemas.microsoft.com/office/drawing/2018/hyperlinkcolor" val="tx"/>
                    </a:ext>
                  </a:extLst>
                </a:hlinkClick>
              </a:rPr>
              <a:t>outlook.com</a:t>
            </a:r>
            <a:endParaRPr lang="en-GB" sz="1800" b="1" dirty="0">
              <a:solidFill>
                <a:schemeClr val="bg1"/>
              </a:solidFill>
            </a:endParaRPr>
          </a:p>
          <a:p>
            <a:pPr>
              <a:spcAft>
                <a:spcPts val="1200"/>
              </a:spcAft>
            </a:pPr>
            <a:r>
              <a:rPr lang="en-GB" b="1" dirty="0">
                <a:solidFill>
                  <a:srgbClr val="FFFFFF"/>
                </a:solidFill>
              </a:rPr>
              <a:t>Mobile: 07566227825</a:t>
            </a:r>
            <a:endParaRPr lang="en-GB" sz="1800" b="1" dirty="0">
              <a:solidFill>
                <a:srgbClr val="FFFFFF"/>
              </a:solidFill>
            </a:endParaRPr>
          </a:p>
          <a:p>
            <a:pPr>
              <a:spcAft>
                <a:spcPts val="500"/>
              </a:spcAft>
            </a:pPr>
            <a:r>
              <a:rPr lang="en-GB" sz="1800" b="0" dirty="0">
                <a:solidFill>
                  <a:srgbClr val="FFFFFF"/>
                </a:solidFill>
              </a:rPr>
              <a:t>For an accurate quote, please include:</a:t>
            </a:r>
          </a:p>
          <a:p>
            <a:pPr>
              <a:spcAft>
                <a:spcPts val="300"/>
              </a:spcAft>
            </a:pPr>
            <a:r>
              <a:rPr lang="en-GB" sz="1800" b="0" dirty="0">
                <a:solidFill>
                  <a:srgbClr val="FFFFFF"/>
                </a:solidFill>
              </a:rPr>
              <a:t>• Premises location and type</a:t>
            </a:r>
          </a:p>
          <a:p>
            <a:pPr>
              <a:spcAft>
                <a:spcPts val="300"/>
              </a:spcAft>
            </a:pPr>
            <a:r>
              <a:rPr lang="en-GB" sz="1800" b="0" dirty="0">
                <a:solidFill>
                  <a:srgbClr val="FFFFFF"/>
                </a:solidFill>
              </a:rPr>
              <a:t>• Approximate size</a:t>
            </a:r>
          </a:p>
          <a:p>
            <a:pPr>
              <a:spcAft>
                <a:spcPts val="300"/>
              </a:spcAft>
            </a:pPr>
            <a:r>
              <a:rPr lang="en-GB" sz="1800" b="0" dirty="0">
                <a:solidFill>
                  <a:srgbClr val="FFFFFF"/>
                </a:solidFill>
              </a:rPr>
              <a:t>• Preferred cleaning frequency</a:t>
            </a:r>
          </a:p>
          <a:p>
            <a:pPr>
              <a:spcAft>
                <a:spcPts val="0"/>
              </a:spcAft>
            </a:pPr>
            <a:r>
              <a:rPr lang="en-GB" sz="1800" b="0" dirty="0">
                <a:solidFill>
                  <a:srgbClr val="FFFFFF"/>
                </a:solidFill>
              </a:rPr>
              <a:t>• Access hours and any specialist requirements</a:t>
            </a:r>
          </a:p>
        </p:txBody>
      </p:sp>
      <p:pic>
        <p:nvPicPr>
          <p:cNvPr id="4" name="Clean Sweep Oasis logo" descr="image.png"/>
          <p:cNvPicPr>
            <a:picLocks noChangeAspect="1"/>
          </p:cNvPicPr>
          <p:nvPr/>
        </p:nvPicPr>
        <p:blipFill>
          <a:blip r:embed="rId4"/>
          <a:stretch>
            <a:fillRect/>
          </a:stretch>
        </p:blipFill>
        <p:spPr>
          <a:xfrm>
            <a:off x="10655808" y="5994000"/>
            <a:ext cx="1280160" cy="6079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569</Words>
  <Application>Microsoft Office PowerPoint</Application>
  <PresentationFormat>Widescreen</PresentationFormat>
  <Paragraphs>90</Paragraphs>
  <Slides>9</Slides>
  <Notes>8</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Clean Sweep Oasis Business Presentation</dc:subject>
  <dc:creator>M365 Copilot</dc:creator>
  <cp:lastModifiedBy>Ibrahim Hewedy</cp:lastModifiedBy>
  <cp:revision>2</cp:revision>
  <dcterms:created xsi:type="dcterms:W3CDTF">2026-09-20T11:25:21Z</dcterms:created>
  <dcterms:modified xsi:type="dcterms:W3CDTF">2026-09-20T15:35:29Z</dcterms:modified>
</cp:coreProperties>
</file>